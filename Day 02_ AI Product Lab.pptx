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Lst>
  <p:sldSz cy="5143500" cx="9144000"/>
  <p:notesSz cx="6858000" cy="9144000"/>
  <p:embeddedFontLst>
    <p:embeddedFont>
      <p:font typeface="Google Sans"/>
      <p:regular r:id="rId35"/>
      <p:bold r:id="rId36"/>
      <p:italic r:id="rId37"/>
      <p:boldItalic r:id="rId38"/>
    </p:embeddedFont>
    <p:embeddedFont>
      <p:font typeface="Google Sans Medium"/>
      <p:regular r:id="rId39"/>
      <p:bold r:id="rId40"/>
      <p:italic r:id="rId41"/>
      <p:boldItalic r:id="rId4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C1276C0-6981-4609-A010-DFFA6C89669A}">
  <a:tblStyle styleId="{CC1276C0-6981-4609-A010-DFFA6C89669A}"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GoogleSansMedium-bold.fntdata"/><Relationship Id="rId20" Type="http://schemas.openxmlformats.org/officeDocument/2006/relationships/slide" Target="slides/slide14.xml"/><Relationship Id="rId42" Type="http://schemas.openxmlformats.org/officeDocument/2006/relationships/font" Target="fonts/GoogleSansMedium-boldItalic.fntdata"/><Relationship Id="rId41" Type="http://schemas.openxmlformats.org/officeDocument/2006/relationships/font" Target="fonts/GoogleSansMedium-italic.fntdata"/><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font" Target="fonts/GoogleSans-regular.fntdata"/><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font" Target="fonts/GoogleSans-italic.fntdata"/><Relationship Id="rId14" Type="http://schemas.openxmlformats.org/officeDocument/2006/relationships/slide" Target="slides/slide8.xml"/><Relationship Id="rId36" Type="http://schemas.openxmlformats.org/officeDocument/2006/relationships/font" Target="fonts/GoogleSans-bold.fntdata"/><Relationship Id="rId17" Type="http://schemas.openxmlformats.org/officeDocument/2006/relationships/slide" Target="slides/slide11.xml"/><Relationship Id="rId39" Type="http://schemas.openxmlformats.org/officeDocument/2006/relationships/font" Target="fonts/GoogleSansMedium-regular.fntdata"/><Relationship Id="rId16" Type="http://schemas.openxmlformats.org/officeDocument/2006/relationships/slide" Target="slides/slide10.xml"/><Relationship Id="rId38" Type="http://schemas.openxmlformats.org/officeDocument/2006/relationships/font" Target="fonts/GoogleSans-boldItalic.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6" name="Google Shape;56;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3e4b6e06e2d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 name="Google Shape;68;g3e4b6e06e2d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3e4b6e06e2d_0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3e4b6e06e2d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e5006e13c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e5006e13c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de719979fe_9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3de719979fe_9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e4b6e06e2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3e4b6e06e2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de719979fe_9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3de719979fe_9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de719979fe_9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3de719979fe_9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6f131bd750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36f131bd750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6f131bd750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6f131bd750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de6b70f2f7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de6b70f2f7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e4b6e06e2d_0_1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e4b6e06e2d_0_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de6b70f2f7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3de6b70f2f7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de6b70f2f7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de6b70f2f7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de6b70f2f7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3de6b70f2f7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3de719979fe_9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3de719979fe_9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de6b70f2f7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3de6b70f2f7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3de719979fe_9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3de719979fe_9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3de6b70f2f7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 name="Google Shape;207;g3de6b70f2f7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3de6b70f2f7_0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3de6b70f2f7_0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3de719979fe_9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4" name="Google Shape;224;g3de719979fe_9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3de6b70f2f7_0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 name="Google Shape;233;g3de6b70f2f7_0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3de6b70f2f7_0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3" name="Google Shape;243;g3de6b70f2f7_0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3de6b70f2f7_0_1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2" name="Google Shape;252;g3de6b70f2f7_0_1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3de6b70f2f7_0_1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1" name="Google Shape;261;g3de6b70f2f7_0_1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3e4b6e06e2d_0_2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8" name="Google Shape;268;g3e4b6e06e2d_0_2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3de6b70f2f7_0_2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4" name="Google Shape;274;g3de6b70f2f7_0_2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3de6b70f2f7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3" name="Google Shape;283;g3de6b70f2f7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4_Title &amp; Body_1 Col">
  <p:cSld name="CUSTOM_7_1_1_1_1_1_1_1_1_1_1_1_1_1_1_1">
    <p:bg>
      <p:bgPr>
        <a:solidFill>
          <a:srgbClr val="FFFFFF"/>
        </a:solidFill>
      </p:bgPr>
    </p:bg>
    <p:spTree>
      <p:nvGrpSpPr>
        <p:cNvPr id="50" name="Shape 50"/>
        <p:cNvGrpSpPr/>
        <p:nvPr/>
      </p:nvGrpSpPr>
      <p:grpSpPr>
        <a:xfrm>
          <a:off x="0" y="0"/>
          <a:ext cx="0" cy="0"/>
          <a:chOff x="0" y="0"/>
          <a:chExt cx="0" cy="0"/>
        </a:xfrm>
      </p:grpSpPr>
      <p:pic>
        <p:nvPicPr>
          <p:cNvPr id="51" name="Google Shape;51;p13"/>
          <p:cNvPicPr preferRelativeResize="0"/>
          <p:nvPr/>
        </p:nvPicPr>
        <p:blipFill>
          <a:blip r:embed="rId2">
            <a:alphaModFix/>
          </a:blip>
          <a:stretch>
            <a:fillRect/>
          </a:stretch>
        </p:blipFill>
        <p:spPr>
          <a:xfrm>
            <a:off x="8027650" y="4862779"/>
            <a:ext cx="659356" cy="115363"/>
          </a:xfrm>
          <a:prstGeom prst="rect">
            <a:avLst/>
          </a:prstGeom>
          <a:noFill/>
          <a:ln>
            <a:noFill/>
          </a:ln>
        </p:spPr>
      </p:pic>
      <p:sp>
        <p:nvSpPr>
          <p:cNvPr id="52" name="Google Shape;52;p13"/>
          <p:cNvSpPr txBox="1"/>
          <p:nvPr>
            <p:ph type="title"/>
          </p:nvPr>
        </p:nvSpPr>
        <p:spPr>
          <a:xfrm>
            <a:off x="457200" y="457200"/>
            <a:ext cx="5459100" cy="996600"/>
          </a:xfrm>
          <a:prstGeom prst="rect">
            <a:avLst/>
          </a:prstGeom>
        </p:spPr>
        <p:txBody>
          <a:bodyPr anchorCtr="0" anchor="t" bIns="91425" lIns="91425" spcFirstLastPara="1" rIns="91425" wrap="square" tIns="91425">
            <a:normAutofit/>
          </a:bodyPr>
          <a:lstStyle>
            <a:lvl1pPr lvl="0">
              <a:lnSpc>
                <a:spcPct val="90000"/>
              </a:lnSpc>
              <a:spcBef>
                <a:spcPts val="0"/>
              </a:spcBef>
              <a:spcAft>
                <a:spcPts val="0"/>
              </a:spcAft>
              <a:buSzPts val="2000"/>
              <a:buNone/>
              <a:defRPr sz="2000"/>
            </a:lvl1pPr>
            <a:lvl2pPr lvl="1">
              <a:lnSpc>
                <a:spcPct val="90000"/>
              </a:lnSpc>
              <a:spcBef>
                <a:spcPts val="0"/>
              </a:spcBef>
              <a:spcAft>
                <a:spcPts val="0"/>
              </a:spcAft>
              <a:buSzPts val="2000"/>
              <a:buNone/>
              <a:defRPr sz="2000">
                <a:latin typeface="Google Sans"/>
                <a:ea typeface="Google Sans"/>
                <a:cs typeface="Google Sans"/>
                <a:sym typeface="Google Sans"/>
              </a:defRPr>
            </a:lvl2pPr>
            <a:lvl3pPr lvl="2">
              <a:lnSpc>
                <a:spcPct val="90000"/>
              </a:lnSpc>
              <a:spcBef>
                <a:spcPts val="0"/>
              </a:spcBef>
              <a:spcAft>
                <a:spcPts val="0"/>
              </a:spcAft>
              <a:buSzPts val="2000"/>
              <a:buNone/>
              <a:defRPr sz="2000">
                <a:latin typeface="Google Sans"/>
                <a:ea typeface="Google Sans"/>
                <a:cs typeface="Google Sans"/>
                <a:sym typeface="Google Sans"/>
              </a:defRPr>
            </a:lvl3pPr>
            <a:lvl4pPr lvl="3">
              <a:lnSpc>
                <a:spcPct val="90000"/>
              </a:lnSpc>
              <a:spcBef>
                <a:spcPts val="0"/>
              </a:spcBef>
              <a:spcAft>
                <a:spcPts val="0"/>
              </a:spcAft>
              <a:buSzPts val="2000"/>
              <a:buNone/>
              <a:defRPr sz="2000">
                <a:latin typeface="Google Sans"/>
                <a:ea typeface="Google Sans"/>
                <a:cs typeface="Google Sans"/>
                <a:sym typeface="Google Sans"/>
              </a:defRPr>
            </a:lvl4pPr>
            <a:lvl5pPr lvl="4">
              <a:lnSpc>
                <a:spcPct val="90000"/>
              </a:lnSpc>
              <a:spcBef>
                <a:spcPts val="0"/>
              </a:spcBef>
              <a:spcAft>
                <a:spcPts val="0"/>
              </a:spcAft>
              <a:buSzPts val="2000"/>
              <a:buNone/>
              <a:defRPr sz="2000">
                <a:latin typeface="Google Sans"/>
                <a:ea typeface="Google Sans"/>
                <a:cs typeface="Google Sans"/>
                <a:sym typeface="Google Sans"/>
              </a:defRPr>
            </a:lvl5pPr>
            <a:lvl6pPr lvl="5">
              <a:lnSpc>
                <a:spcPct val="90000"/>
              </a:lnSpc>
              <a:spcBef>
                <a:spcPts val="0"/>
              </a:spcBef>
              <a:spcAft>
                <a:spcPts val="0"/>
              </a:spcAft>
              <a:buSzPts val="2000"/>
              <a:buNone/>
              <a:defRPr sz="2000">
                <a:latin typeface="Google Sans"/>
                <a:ea typeface="Google Sans"/>
                <a:cs typeface="Google Sans"/>
                <a:sym typeface="Google Sans"/>
              </a:defRPr>
            </a:lvl6pPr>
            <a:lvl7pPr lvl="6">
              <a:lnSpc>
                <a:spcPct val="90000"/>
              </a:lnSpc>
              <a:spcBef>
                <a:spcPts val="0"/>
              </a:spcBef>
              <a:spcAft>
                <a:spcPts val="0"/>
              </a:spcAft>
              <a:buSzPts val="2000"/>
              <a:buNone/>
              <a:defRPr sz="2000">
                <a:latin typeface="Google Sans"/>
                <a:ea typeface="Google Sans"/>
                <a:cs typeface="Google Sans"/>
                <a:sym typeface="Google Sans"/>
              </a:defRPr>
            </a:lvl7pPr>
            <a:lvl8pPr lvl="7">
              <a:lnSpc>
                <a:spcPct val="90000"/>
              </a:lnSpc>
              <a:spcBef>
                <a:spcPts val="0"/>
              </a:spcBef>
              <a:spcAft>
                <a:spcPts val="0"/>
              </a:spcAft>
              <a:buSzPts val="2000"/>
              <a:buNone/>
              <a:defRPr sz="2000">
                <a:latin typeface="Google Sans"/>
                <a:ea typeface="Google Sans"/>
                <a:cs typeface="Google Sans"/>
                <a:sym typeface="Google Sans"/>
              </a:defRPr>
            </a:lvl8pPr>
            <a:lvl9pPr lvl="8">
              <a:lnSpc>
                <a:spcPct val="90000"/>
              </a:lnSpc>
              <a:spcBef>
                <a:spcPts val="0"/>
              </a:spcBef>
              <a:spcAft>
                <a:spcPts val="0"/>
              </a:spcAft>
              <a:buSzPts val="2000"/>
              <a:buNone/>
              <a:defRPr sz="2000">
                <a:latin typeface="Google Sans"/>
                <a:ea typeface="Google Sans"/>
                <a:cs typeface="Google Sans"/>
                <a:sym typeface="Google Sans"/>
              </a:defRPr>
            </a:lvl9pPr>
          </a:lstStyle>
          <a:p/>
        </p:txBody>
      </p:sp>
      <p:sp>
        <p:nvSpPr>
          <p:cNvPr id="53" name="Google Shape;53;p13"/>
          <p:cNvSpPr txBox="1"/>
          <p:nvPr>
            <p:ph idx="1" type="body"/>
          </p:nvPr>
        </p:nvSpPr>
        <p:spPr>
          <a:xfrm>
            <a:off x="457200" y="1536192"/>
            <a:ext cx="4078200" cy="3154800"/>
          </a:xfrm>
          <a:prstGeom prst="rect">
            <a:avLst/>
          </a:prstGeom>
        </p:spPr>
        <p:txBody>
          <a:bodyPr anchorCtr="0" anchor="t" bIns="0" lIns="0" spcFirstLastPara="1" rIns="91425" wrap="square" tIns="0">
            <a:normAutofit/>
          </a:bodyPr>
          <a:lstStyle>
            <a:lvl1pPr indent="-342900" lvl="0" marL="457200">
              <a:lnSpc>
                <a:spcPct val="150000"/>
              </a:lnSpc>
              <a:spcBef>
                <a:spcPts val="0"/>
              </a:spcBef>
              <a:spcAft>
                <a:spcPts val="0"/>
              </a:spcAft>
              <a:buSzPts val="1800"/>
              <a:buChar char="●"/>
              <a:defRPr/>
            </a:lvl1pPr>
            <a:lvl2pPr indent="-317500" lvl="1" marL="914400">
              <a:lnSpc>
                <a:spcPct val="150000"/>
              </a:lnSpc>
              <a:spcBef>
                <a:spcPts val="0"/>
              </a:spcBef>
              <a:spcAft>
                <a:spcPts val="0"/>
              </a:spcAft>
              <a:buSzPts val="1400"/>
              <a:buChar char="○"/>
              <a:defRPr/>
            </a:lvl2pPr>
            <a:lvl3pPr indent="-317500" lvl="2" marL="1371600">
              <a:lnSpc>
                <a:spcPct val="150000"/>
              </a:lnSpc>
              <a:spcBef>
                <a:spcPts val="0"/>
              </a:spcBef>
              <a:spcAft>
                <a:spcPts val="0"/>
              </a:spcAft>
              <a:buSzPts val="1400"/>
              <a:buChar char="■"/>
              <a:defRPr/>
            </a:lvl3pPr>
            <a:lvl4pPr indent="-317500" lvl="3" marL="1828800">
              <a:lnSpc>
                <a:spcPct val="150000"/>
              </a:lnSpc>
              <a:spcBef>
                <a:spcPts val="0"/>
              </a:spcBef>
              <a:spcAft>
                <a:spcPts val="0"/>
              </a:spcAft>
              <a:buSzPts val="1400"/>
              <a:buChar char="●"/>
              <a:defRPr/>
            </a:lvl4pPr>
            <a:lvl5pPr indent="-317500" lvl="4" marL="2286000">
              <a:lnSpc>
                <a:spcPct val="150000"/>
              </a:lnSpc>
              <a:spcBef>
                <a:spcPts val="0"/>
              </a:spcBef>
              <a:spcAft>
                <a:spcPts val="0"/>
              </a:spcAft>
              <a:buSzPts val="1400"/>
              <a:buChar char="○"/>
              <a:defRPr/>
            </a:lvl5pPr>
            <a:lvl6pPr indent="-317500" lvl="5" marL="2743200">
              <a:lnSpc>
                <a:spcPct val="150000"/>
              </a:lnSpc>
              <a:spcBef>
                <a:spcPts val="0"/>
              </a:spcBef>
              <a:spcAft>
                <a:spcPts val="0"/>
              </a:spcAft>
              <a:buSzPts val="1400"/>
              <a:buChar char="■"/>
              <a:defRPr/>
            </a:lvl6pPr>
            <a:lvl7pPr indent="-317500" lvl="6" marL="3200400">
              <a:lnSpc>
                <a:spcPct val="150000"/>
              </a:lnSpc>
              <a:spcBef>
                <a:spcPts val="0"/>
              </a:spcBef>
              <a:spcAft>
                <a:spcPts val="0"/>
              </a:spcAft>
              <a:buSzPts val="1400"/>
              <a:buChar char="●"/>
              <a:defRPr/>
            </a:lvl7pPr>
            <a:lvl8pPr indent="-317500" lvl="7" marL="3657600">
              <a:lnSpc>
                <a:spcPct val="150000"/>
              </a:lnSpc>
              <a:spcBef>
                <a:spcPts val="0"/>
              </a:spcBef>
              <a:spcAft>
                <a:spcPts val="0"/>
              </a:spcAft>
              <a:buSzPts val="1400"/>
              <a:buChar char="○"/>
              <a:defRPr/>
            </a:lvl8pPr>
            <a:lvl9pPr indent="-317500" lvl="8" marL="4114800">
              <a:lnSpc>
                <a:spcPct val="150000"/>
              </a:lnSpc>
              <a:spcBef>
                <a:spcPts val="0"/>
              </a:spcBef>
              <a:spcAft>
                <a:spcPts val="0"/>
              </a:spcAft>
              <a:buSzPts val="1400"/>
              <a:buChar char="■"/>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vi"/>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5.jpg"/><Relationship Id="rId4" Type="http://schemas.openxmlformats.org/officeDocument/2006/relationships/image" Target="../media/image2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hyperlink" Target="https://colab.research.google.com/drive/1KwOIXDb_9sFj19NXMBj-6N3PDlxV3d9l?usp=sharing" TargetMode="External"/><Relationship Id="rId4" Type="http://schemas.openxmlformats.org/officeDocument/2006/relationships/image" Target="../media/image2.png"/><Relationship Id="rId5"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hyperlink" Target="https://drive.google.com/open?id=1dtmxu2rii3hhcwpDvdZ8cZVRwx6Vfvq0" TargetMode="External"/><Relationship Id="rId4" Type="http://schemas.openxmlformats.org/officeDocument/2006/relationships/slide" Target="/ppt/slides/slide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hyperlink" Target="https://discord.gg/87hkVKvWv7" TargetMode="Externa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hyperlink" Target="https://classroom.github.com/a/lyEoJtta" TargetMode="Externa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8.png"/><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5.png"/><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0.png"/><Relationship Id="rId4" Type="http://schemas.openxmlformats.org/officeDocument/2006/relationships/image" Target="../media/image1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5.png"/><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9.png"/><Relationship Id="rId4" Type="http://schemas.openxmlformats.org/officeDocument/2006/relationships/image" Target="../media/image1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1.png"/><Relationship Id="rId4" Type="http://schemas.openxmlformats.org/officeDocument/2006/relationships/image" Target="../media/image1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22.png"/><Relationship Id="rId4" Type="http://schemas.openxmlformats.org/officeDocument/2006/relationships/image" Target="../media/image1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24.png"/><Relationship Id="rId4" Type="http://schemas.openxmlformats.org/officeDocument/2006/relationships/image" Target="../media/image1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1.png"/><Relationship Id="rId4" Type="http://schemas.openxmlformats.org/officeDocument/2006/relationships/image" Target="../media/image1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2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2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23.png"/><Relationship Id="rId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 name="Shape 57"/>
        <p:cNvGrpSpPr/>
        <p:nvPr/>
      </p:nvGrpSpPr>
      <p:grpSpPr>
        <a:xfrm>
          <a:off x="0" y="0"/>
          <a:ext cx="0" cy="0"/>
          <a:chOff x="0" y="0"/>
          <a:chExt cx="0" cy="0"/>
        </a:xfrm>
      </p:grpSpPr>
      <p:sp>
        <p:nvSpPr>
          <p:cNvPr id="58" name="Google Shape;58;p14"/>
          <p:cNvSpPr txBox="1"/>
          <p:nvPr/>
        </p:nvSpPr>
        <p:spPr>
          <a:xfrm>
            <a:off x="547200" y="4012260"/>
            <a:ext cx="30000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1000"/>
              </a:spcAft>
              <a:buNone/>
            </a:pPr>
            <a:r>
              <a:rPr b="1" lang="vi" sz="800">
                <a:solidFill>
                  <a:srgbClr val="434343"/>
                </a:solidFill>
                <a:latin typeface="Google Sans"/>
                <a:ea typeface="Google Sans"/>
                <a:cs typeface="Google Sans"/>
                <a:sym typeface="Google Sans"/>
              </a:rPr>
              <a:t>Ha Noi 29.05.2026 - @ Vin University</a:t>
            </a:r>
            <a:endParaRPr b="1" sz="800">
              <a:solidFill>
                <a:schemeClr val="dk1"/>
              </a:solidFill>
            </a:endParaRPr>
          </a:p>
        </p:txBody>
      </p:sp>
      <p:sp>
        <p:nvSpPr>
          <p:cNvPr id="59" name="Google Shape;59;p14"/>
          <p:cNvSpPr txBox="1"/>
          <p:nvPr/>
        </p:nvSpPr>
        <p:spPr>
          <a:xfrm>
            <a:off x="471008" y="412125"/>
            <a:ext cx="8520600" cy="7377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1000"/>
              </a:spcAft>
              <a:buNone/>
            </a:pPr>
            <a:r>
              <a:rPr b="1" lang="vi" sz="2400">
                <a:solidFill>
                  <a:srgbClr val="DB4437"/>
                </a:solidFill>
                <a:latin typeface="Google Sans"/>
                <a:ea typeface="Google Sans"/>
                <a:cs typeface="Google Sans"/>
                <a:sym typeface="Google Sans"/>
              </a:rPr>
              <a:t>Day 02</a:t>
            </a:r>
            <a:endParaRPr sz="2400">
              <a:solidFill>
                <a:srgbClr val="DB4437"/>
              </a:solidFill>
            </a:endParaRPr>
          </a:p>
        </p:txBody>
      </p:sp>
      <p:sp>
        <p:nvSpPr>
          <p:cNvPr id="60" name="Google Shape;60;p14"/>
          <p:cNvSpPr txBox="1"/>
          <p:nvPr/>
        </p:nvSpPr>
        <p:spPr>
          <a:xfrm>
            <a:off x="471008" y="1683225"/>
            <a:ext cx="8520600" cy="20526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vi" sz="5500">
                <a:solidFill>
                  <a:srgbClr val="4285F4"/>
                </a:solidFill>
                <a:latin typeface="Google Sans"/>
                <a:ea typeface="Google Sans"/>
                <a:cs typeface="Google Sans"/>
                <a:sym typeface="Google Sans"/>
              </a:rPr>
              <a:t>AI Product Scoping</a:t>
            </a:r>
            <a:endParaRPr b="1" sz="6000">
              <a:solidFill>
                <a:srgbClr val="4285F4"/>
              </a:solidFill>
              <a:latin typeface="Google Sans"/>
              <a:ea typeface="Google Sans"/>
              <a:cs typeface="Google Sans"/>
              <a:sym typeface="Google Sans"/>
            </a:endParaRPr>
          </a:p>
          <a:p>
            <a:pPr indent="0" lvl="0" marL="0" rtl="0" algn="l">
              <a:spcBef>
                <a:spcPts val="1000"/>
              </a:spcBef>
              <a:spcAft>
                <a:spcPts val="1000"/>
              </a:spcAft>
              <a:buNone/>
            </a:pPr>
            <a:r>
              <a:rPr lang="vi" sz="3600">
                <a:solidFill>
                  <a:srgbClr val="DB4437"/>
                </a:solidFill>
                <a:latin typeface="Google Sans Medium"/>
                <a:ea typeface="Google Sans Medium"/>
                <a:cs typeface="Google Sans Medium"/>
                <a:sym typeface="Google Sans Medium"/>
              </a:rPr>
              <a:t> Lab Guideline</a:t>
            </a:r>
            <a:endParaRPr sz="3600">
              <a:solidFill>
                <a:srgbClr val="DB4437"/>
              </a:solidFill>
            </a:endParaRPr>
          </a:p>
        </p:txBody>
      </p:sp>
      <p:cxnSp>
        <p:nvCxnSpPr>
          <p:cNvPr id="61" name="Google Shape;61;p14"/>
          <p:cNvCxnSpPr/>
          <p:nvPr/>
        </p:nvCxnSpPr>
        <p:spPr>
          <a:xfrm rot="10800000">
            <a:off x="-5220205" y="2290902"/>
            <a:ext cx="2156400" cy="0"/>
          </a:xfrm>
          <a:prstGeom prst="straightConnector1">
            <a:avLst/>
          </a:prstGeom>
          <a:noFill/>
          <a:ln cap="flat" cmpd="sng" w="38100">
            <a:solidFill>
              <a:srgbClr val="A7A7A7"/>
            </a:solidFill>
            <a:prstDash val="solid"/>
            <a:round/>
            <a:headEnd len="med" w="med" type="stealth"/>
            <a:tailEnd len="med" w="med" type="stealth"/>
          </a:ln>
        </p:spPr>
      </p:cxnSp>
      <p:sp>
        <p:nvSpPr>
          <p:cNvPr id="62" name="Google Shape;62;p14"/>
          <p:cNvSpPr/>
          <p:nvPr/>
        </p:nvSpPr>
        <p:spPr>
          <a:xfrm>
            <a:off x="-4326350" y="3238850"/>
            <a:ext cx="906900" cy="906900"/>
          </a:xfrm>
          <a:prstGeom prst="ellipse">
            <a:avLst/>
          </a:prstGeom>
          <a:solidFill>
            <a:srgbClr val="4285F4"/>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vi" sz="2400">
                <a:solidFill>
                  <a:srgbClr val="FFFFFF"/>
                </a:solidFill>
                <a:latin typeface="Google Sans"/>
                <a:ea typeface="Google Sans"/>
                <a:cs typeface="Google Sans"/>
                <a:sym typeface="Google Sans"/>
              </a:rPr>
              <a:t>1</a:t>
            </a:r>
            <a:endParaRPr sz="2400">
              <a:solidFill>
                <a:srgbClr val="FFFFFF"/>
              </a:solidFill>
              <a:latin typeface="Google Sans"/>
              <a:ea typeface="Google Sans"/>
              <a:cs typeface="Google Sans"/>
              <a:sym typeface="Google Sans"/>
            </a:endParaRPr>
          </a:p>
        </p:txBody>
      </p:sp>
      <p:sp>
        <p:nvSpPr>
          <p:cNvPr id="63" name="Google Shape;63;p14"/>
          <p:cNvSpPr/>
          <p:nvPr/>
        </p:nvSpPr>
        <p:spPr>
          <a:xfrm>
            <a:off x="-4326350" y="638650"/>
            <a:ext cx="906900" cy="906900"/>
          </a:xfrm>
          <a:prstGeom prst="ellipse">
            <a:avLst/>
          </a:prstGeom>
          <a:solidFill>
            <a:srgbClr val="DB4437"/>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vi" sz="2400">
                <a:solidFill>
                  <a:srgbClr val="FFFFFF"/>
                </a:solidFill>
                <a:latin typeface="Google Sans"/>
                <a:ea typeface="Google Sans"/>
                <a:cs typeface="Google Sans"/>
                <a:sym typeface="Google Sans"/>
              </a:rPr>
              <a:t>2</a:t>
            </a:r>
            <a:endParaRPr sz="2400">
              <a:solidFill>
                <a:srgbClr val="FFFFFF"/>
              </a:solidFill>
              <a:latin typeface="Google Sans"/>
              <a:ea typeface="Google Sans"/>
              <a:cs typeface="Google Sans"/>
              <a:sym typeface="Google Sans"/>
            </a:endParaRPr>
          </a:p>
        </p:txBody>
      </p:sp>
      <p:sp>
        <p:nvSpPr>
          <p:cNvPr id="64" name="Google Shape;64;p14"/>
          <p:cNvSpPr/>
          <p:nvPr/>
        </p:nvSpPr>
        <p:spPr>
          <a:xfrm>
            <a:off x="-4326350" y="4320050"/>
            <a:ext cx="906900" cy="906900"/>
          </a:xfrm>
          <a:prstGeom prst="ellipse">
            <a:avLst/>
          </a:prstGeom>
          <a:solidFill>
            <a:srgbClr val="FFA65C"/>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vi" sz="2400">
                <a:solidFill>
                  <a:srgbClr val="FFFFFF"/>
                </a:solidFill>
                <a:latin typeface="Google Sans"/>
                <a:ea typeface="Google Sans"/>
                <a:cs typeface="Google Sans"/>
                <a:sym typeface="Google Sans"/>
              </a:rPr>
              <a:t>3</a:t>
            </a:r>
            <a:endParaRPr sz="2400">
              <a:solidFill>
                <a:srgbClr val="FFFFFF"/>
              </a:solidFill>
              <a:latin typeface="Google Sans"/>
              <a:ea typeface="Google Sans"/>
              <a:cs typeface="Google Sans"/>
              <a:sym typeface="Google Sans"/>
            </a:endParaRPr>
          </a:p>
        </p:txBody>
      </p:sp>
      <p:sp>
        <p:nvSpPr>
          <p:cNvPr id="65" name="Google Shape;65;p14"/>
          <p:cNvSpPr/>
          <p:nvPr/>
        </p:nvSpPr>
        <p:spPr>
          <a:xfrm>
            <a:off x="-4326350" y="1837450"/>
            <a:ext cx="906900" cy="906900"/>
          </a:xfrm>
          <a:prstGeom prst="ellipse">
            <a:avLst/>
          </a:prstGeom>
          <a:solidFill>
            <a:srgbClr val="34A853"/>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vi" sz="2400">
                <a:solidFill>
                  <a:srgbClr val="FFFFFF"/>
                </a:solidFill>
                <a:latin typeface="Google Sans"/>
                <a:ea typeface="Google Sans"/>
                <a:cs typeface="Google Sans"/>
                <a:sym typeface="Google Sans"/>
              </a:rPr>
              <a:t>4</a:t>
            </a:r>
            <a:endParaRPr sz="2400">
              <a:solidFill>
                <a:srgbClr val="FFFFFF"/>
              </a:solidFill>
              <a:latin typeface="Google Sans"/>
              <a:ea typeface="Google Sans"/>
              <a:cs typeface="Google Sans"/>
              <a:sym typeface="Google Sa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15"/>
          <p:cNvSpPr txBox="1"/>
          <p:nvPr/>
        </p:nvSpPr>
        <p:spPr>
          <a:xfrm>
            <a:off x="471008" y="412125"/>
            <a:ext cx="8520600" cy="7377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1000"/>
              </a:spcAft>
              <a:buNone/>
            </a:pPr>
            <a:r>
              <a:rPr b="1" lang="vi" sz="3000">
                <a:solidFill>
                  <a:srgbClr val="DB4437"/>
                </a:solidFill>
                <a:latin typeface="Google Sans"/>
                <a:ea typeface="Google Sans"/>
                <a:cs typeface="Google Sans"/>
                <a:sym typeface="Google Sans"/>
              </a:rPr>
              <a:t>Happy to know you! </a:t>
            </a:r>
            <a:endParaRPr sz="3000">
              <a:solidFill>
                <a:srgbClr val="DB4437"/>
              </a:solidFill>
            </a:endParaRPr>
          </a:p>
        </p:txBody>
      </p:sp>
      <p:sp>
        <p:nvSpPr>
          <p:cNvPr id="71" name="Google Shape;71;p15"/>
          <p:cNvSpPr txBox="1"/>
          <p:nvPr/>
        </p:nvSpPr>
        <p:spPr>
          <a:xfrm>
            <a:off x="547201" y="1837450"/>
            <a:ext cx="3060300" cy="20526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b="1" lang="vi" sz="4000">
                <a:solidFill>
                  <a:srgbClr val="4285F4"/>
                </a:solidFill>
                <a:latin typeface="Google Sans"/>
                <a:ea typeface="Google Sans"/>
                <a:cs typeface="Google Sans"/>
                <a:sym typeface="Google Sans"/>
              </a:rPr>
              <a:t>Võ Tự Đức</a:t>
            </a:r>
            <a:endParaRPr b="1" sz="4500">
              <a:solidFill>
                <a:srgbClr val="4285F4"/>
              </a:solidFill>
              <a:latin typeface="Google Sans"/>
              <a:ea typeface="Google Sans"/>
              <a:cs typeface="Google Sans"/>
              <a:sym typeface="Google Sans"/>
            </a:endParaRPr>
          </a:p>
          <a:p>
            <a:pPr indent="0" lvl="0" marL="0" rtl="0" algn="ctr">
              <a:spcBef>
                <a:spcPts val="1000"/>
              </a:spcBef>
              <a:spcAft>
                <a:spcPts val="1000"/>
              </a:spcAft>
              <a:buNone/>
            </a:pPr>
            <a:r>
              <a:rPr lang="vi" sz="1000">
                <a:solidFill>
                  <a:srgbClr val="DB4437"/>
                </a:solidFill>
                <a:latin typeface="Google Sans Medium"/>
                <a:ea typeface="Google Sans Medium"/>
                <a:cs typeface="Google Sans Medium"/>
                <a:sym typeface="Google Sans Medium"/>
              </a:rPr>
              <a:t>Google Developer Expert // ContentDrive.app </a:t>
            </a:r>
            <a:endParaRPr sz="1000">
              <a:solidFill>
                <a:srgbClr val="DB4437"/>
              </a:solidFill>
            </a:endParaRPr>
          </a:p>
        </p:txBody>
      </p:sp>
      <p:cxnSp>
        <p:nvCxnSpPr>
          <p:cNvPr id="72" name="Google Shape;72;p15"/>
          <p:cNvCxnSpPr/>
          <p:nvPr/>
        </p:nvCxnSpPr>
        <p:spPr>
          <a:xfrm rot="10800000">
            <a:off x="-5220205" y="2290902"/>
            <a:ext cx="2156400" cy="0"/>
          </a:xfrm>
          <a:prstGeom prst="straightConnector1">
            <a:avLst/>
          </a:prstGeom>
          <a:noFill/>
          <a:ln cap="flat" cmpd="sng" w="38100">
            <a:solidFill>
              <a:srgbClr val="A7A7A7"/>
            </a:solidFill>
            <a:prstDash val="solid"/>
            <a:round/>
            <a:headEnd len="med" w="med" type="stealth"/>
            <a:tailEnd len="med" w="med" type="stealth"/>
          </a:ln>
        </p:spPr>
      </p:cxnSp>
      <p:sp>
        <p:nvSpPr>
          <p:cNvPr id="73" name="Google Shape;73;p15"/>
          <p:cNvSpPr/>
          <p:nvPr/>
        </p:nvSpPr>
        <p:spPr>
          <a:xfrm>
            <a:off x="-4326350" y="3238850"/>
            <a:ext cx="906900" cy="906900"/>
          </a:xfrm>
          <a:prstGeom prst="ellipse">
            <a:avLst/>
          </a:prstGeom>
          <a:solidFill>
            <a:srgbClr val="4285F4"/>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vi" sz="2400">
                <a:solidFill>
                  <a:srgbClr val="FFFFFF"/>
                </a:solidFill>
                <a:latin typeface="Google Sans"/>
                <a:ea typeface="Google Sans"/>
                <a:cs typeface="Google Sans"/>
                <a:sym typeface="Google Sans"/>
              </a:rPr>
              <a:t>1</a:t>
            </a:r>
            <a:endParaRPr sz="2400">
              <a:solidFill>
                <a:srgbClr val="FFFFFF"/>
              </a:solidFill>
              <a:latin typeface="Google Sans"/>
              <a:ea typeface="Google Sans"/>
              <a:cs typeface="Google Sans"/>
              <a:sym typeface="Google Sans"/>
            </a:endParaRPr>
          </a:p>
        </p:txBody>
      </p:sp>
      <p:sp>
        <p:nvSpPr>
          <p:cNvPr id="74" name="Google Shape;74;p15"/>
          <p:cNvSpPr/>
          <p:nvPr/>
        </p:nvSpPr>
        <p:spPr>
          <a:xfrm>
            <a:off x="-4326350" y="638650"/>
            <a:ext cx="906900" cy="906900"/>
          </a:xfrm>
          <a:prstGeom prst="ellipse">
            <a:avLst/>
          </a:prstGeom>
          <a:solidFill>
            <a:srgbClr val="DB4437"/>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vi" sz="2400">
                <a:solidFill>
                  <a:srgbClr val="FFFFFF"/>
                </a:solidFill>
                <a:latin typeface="Google Sans"/>
                <a:ea typeface="Google Sans"/>
                <a:cs typeface="Google Sans"/>
                <a:sym typeface="Google Sans"/>
              </a:rPr>
              <a:t>2</a:t>
            </a:r>
            <a:endParaRPr sz="2400">
              <a:solidFill>
                <a:srgbClr val="FFFFFF"/>
              </a:solidFill>
              <a:latin typeface="Google Sans"/>
              <a:ea typeface="Google Sans"/>
              <a:cs typeface="Google Sans"/>
              <a:sym typeface="Google Sans"/>
            </a:endParaRPr>
          </a:p>
        </p:txBody>
      </p:sp>
      <p:sp>
        <p:nvSpPr>
          <p:cNvPr id="75" name="Google Shape;75;p15"/>
          <p:cNvSpPr/>
          <p:nvPr/>
        </p:nvSpPr>
        <p:spPr>
          <a:xfrm>
            <a:off x="-4326350" y="4320050"/>
            <a:ext cx="906900" cy="906900"/>
          </a:xfrm>
          <a:prstGeom prst="ellipse">
            <a:avLst/>
          </a:prstGeom>
          <a:solidFill>
            <a:srgbClr val="FFA65C"/>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vi" sz="2400">
                <a:solidFill>
                  <a:srgbClr val="FFFFFF"/>
                </a:solidFill>
                <a:latin typeface="Google Sans"/>
                <a:ea typeface="Google Sans"/>
                <a:cs typeface="Google Sans"/>
                <a:sym typeface="Google Sans"/>
              </a:rPr>
              <a:t>3</a:t>
            </a:r>
            <a:endParaRPr sz="2400">
              <a:solidFill>
                <a:srgbClr val="FFFFFF"/>
              </a:solidFill>
              <a:latin typeface="Google Sans"/>
              <a:ea typeface="Google Sans"/>
              <a:cs typeface="Google Sans"/>
              <a:sym typeface="Google Sans"/>
            </a:endParaRPr>
          </a:p>
        </p:txBody>
      </p:sp>
      <p:sp>
        <p:nvSpPr>
          <p:cNvPr id="76" name="Google Shape;76;p15"/>
          <p:cNvSpPr/>
          <p:nvPr/>
        </p:nvSpPr>
        <p:spPr>
          <a:xfrm>
            <a:off x="-4326350" y="1837450"/>
            <a:ext cx="906900" cy="906900"/>
          </a:xfrm>
          <a:prstGeom prst="ellipse">
            <a:avLst/>
          </a:prstGeom>
          <a:solidFill>
            <a:srgbClr val="34A853"/>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vi" sz="2400">
                <a:solidFill>
                  <a:srgbClr val="FFFFFF"/>
                </a:solidFill>
                <a:latin typeface="Google Sans"/>
                <a:ea typeface="Google Sans"/>
                <a:cs typeface="Google Sans"/>
                <a:sym typeface="Google Sans"/>
              </a:rPr>
              <a:t>4</a:t>
            </a:r>
            <a:endParaRPr sz="2400">
              <a:solidFill>
                <a:srgbClr val="FFFFFF"/>
              </a:solidFill>
              <a:latin typeface="Google Sans"/>
              <a:ea typeface="Google Sans"/>
              <a:cs typeface="Google Sans"/>
              <a:sym typeface="Google Sans"/>
            </a:endParaRPr>
          </a:p>
        </p:txBody>
      </p:sp>
      <p:sp>
        <p:nvSpPr>
          <p:cNvPr id="77" name="Google Shape;77;p15"/>
          <p:cNvSpPr txBox="1"/>
          <p:nvPr/>
        </p:nvSpPr>
        <p:spPr>
          <a:xfrm>
            <a:off x="547208" y="3850985"/>
            <a:ext cx="50589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1000"/>
              </a:spcAft>
              <a:buNone/>
            </a:pPr>
            <a:r>
              <a:t/>
            </a:r>
            <a:endParaRPr b="1" sz="900"/>
          </a:p>
        </p:txBody>
      </p:sp>
      <p:sp>
        <p:nvSpPr>
          <p:cNvPr id="78" name="Google Shape;78;p15"/>
          <p:cNvSpPr txBox="1"/>
          <p:nvPr/>
        </p:nvSpPr>
        <p:spPr>
          <a:xfrm>
            <a:off x="4397400" y="2458200"/>
            <a:ext cx="4746600" cy="20526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b="1" lang="vi" sz="4000">
                <a:solidFill>
                  <a:srgbClr val="4285F4"/>
                </a:solidFill>
                <a:latin typeface="Google Sans"/>
                <a:ea typeface="Google Sans"/>
                <a:cs typeface="Google Sans"/>
                <a:sym typeface="Google Sans"/>
              </a:rPr>
              <a:t>Nguyễn Minh </a:t>
            </a:r>
            <a:br>
              <a:rPr b="1" lang="vi" sz="4000">
                <a:solidFill>
                  <a:srgbClr val="4285F4"/>
                </a:solidFill>
                <a:latin typeface="Google Sans"/>
                <a:ea typeface="Google Sans"/>
                <a:cs typeface="Google Sans"/>
                <a:sym typeface="Google Sans"/>
              </a:rPr>
            </a:br>
            <a:r>
              <a:rPr b="1" lang="vi" sz="4000">
                <a:solidFill>
                  <a:srgbClr val="4285F4"/>
                </a:solidFill>
                <a:latin typeface="Google Sans"/>
                <a:ea typeface="Google Sans"/>
                <a:cs typeface="Google Sans"/>
                <a:sym typeface="Google Sans"/>
              </a:rPr>
              <a:t>Triết</a:t>
            </a:r>
            <a:endParaRPr b="1" sz="4500">
              <a:solidFill>
                <a:srgbClr val="4285F4"/>
              </a:solidFill>
              <a:latin typeface="Google Sans"/>
              <a:ea typeface="Google Sans"/>
              <a:cs typeface="Google Sans"/>
              <a:sym typeface="Google Sans"/>
            </a:endParaRPr>
          </a:p>
          <a:p>
            <a:pPr indent="0" lvl="0" marL="0" rtl="0" algn="ctr">
              <a:spcBef>
                <a:spcPts val="1000"/>
              </a:spcBef>
              <a:spcAft>
                <a:spcPts val="1000"/>
              </a:spcAft>
              <a:buNone/>
            </a:pPr>
            <a:r>
              <a:rPr lang="vi" sz="1000">
                <a:solidFill>
                  <a:srgbClr val="DB4437"/>
                </a:solidFill>
                <a:latin typeface="Google Sans Medium"/>
                <a:ea typeface="Google Sans Medium"/>
                <a:cs typeface="Google Sans Medium"/>
                <a:sym typeface="Google Sans Medium"/>
              </a:rPr>
              <a:t>Chapter Lead Advisor // GDG on Campus FPT University</a:t>
            </a:r>
            <a:endParaRPr sz="1000">
              <a:solidFill>
                <a:srgbClr val="DB4437"/>
              </a:solidFill>
            </a:endParaRPr>
          </a:p>
        </p:txBody>
      </p:sp>
      <p:pic>
        <p:nvPicPr>
          <p:cNvPr id="79" name="Google Shape;79;p15" title="anh_avatar_votuduc (2).jpg"/>
          <p:cNvPicPr preferRelativeResize="0"/>
          <p:nvPr/>
        </p:nvPicPr>
        <p:blipFill>
          <a:blip r:embed="rId3">
            <a:alphaModFix/>
          </a:blip>
          <a:stretch>
            <a:fillRect/>
          </a:stretch>
        </p:blipFill>
        <p:spPr>
          <a:xfrm>
            <a:off x="1226951" y="1017477"/>
            <a:ext cx="1507726" cy="1726874"/>
          </a:xfrm>
          <a:prstGeom prst="rect">
            <a:avLst/>
          </a:prstGeom>
          <a:noFill/>
          <a:ln>
            <a:noFill/>
          </a:ln>
        </p:spPr>
      </p:pic>
      <p:pic>
        <p:nvPicPr>
          <p:cNvPr id="80" name="Google Shape;80;p15" title="myself2.png"/>
          <p:cNvPicPr preferRelativeResize="0"/>
          <p:nvPr/>
        </p:nvPicPr>
        <p:blipFill rotWithShape="1">
          <a:blip r:embed="rId4">
            <a:alphaModFix/>
          </a:blip>
          <a:srcRect b="30297" l="24479" r="25411" t="19593"/>
          <a:stretch/>
        </p:blipFill>
        <p:spPr>
          <a:xfrm>
            <a:off x="5972925" y="1059262"/>
            <a:ext cx="1595550" cy="1643299"/>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6"/>
          <p:cNvSpPr txBox="1"/>
          <p:nvPr/>
        </p:nvSpPr>
        <p:spPr>
          <a:xfrm>
            <a:off x="471008" y="412125"/>
            <a:ext cx="8520600" cy="7377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1000"/>
              </a:spcAft>
              <a:buNone/>
            </a:pPr>
            <a:r>
              <a:rPr b="1" lang="vi" sz="3000">
                <a:solidFill>
                  <a:srgbClr val="DB4437"/>
                </a:solidFill>
                <a:latin typeface="Google Sans"/>
                <a:ea typeface="Google Sans"/>
                <a:cs typeface="Google Sans"/>
                <a:sym typeface="Google Sans"/>
              </a:rPr>
              <a:t>Agenda | Day 02</a:t>
            </a:r>
            <a:endParaRPr sz="3000">
              <a:solidFill>
                <a:srgbClr val="DB4437"/>
              </a:solidFill>
            </a:endParaRPr>
          </a:p>
        </p:txBody>
      </p:sp>
      <p:cxnSp>
        <p:nvCxnSpPr>
          <p:cNvPr id="86" name="Google Shape;86;p16"/>
          <p:cNvCxnSpPr/>
          <p:nvPr/>
        </p:nvCxnSpPr>
        <p:spPr>
          <a:xfrm rot="10800000">
            <a:off x="-5220205" y="2290902"/>
            <a:ext cx="2156400" cy="0"/>
          </a:xfrm>
          <a:prstGeom prst="straightConnector1">
            <a:avLst/>
          </a:prstGeom>
          <a:noFill/>
          <a:ln cap="flat" cmpd="sng" w="38100">
            <a:solidFill>
              <a:srgbClr val="A7A7A7"/>
            </a:solidFill>
            <a:prstDash val="solid"/>
            <a:round/>
            <a:headEnd len="med" w="med" type="stealth"/>
            <a:tailEnd len="med" w="med" type="stealth"/>
          </a:ln>
        </p:spPr>
      </p:cxnSp>
      <p:sp>
        <p:nvSpPr>
          <p:cNvPr id="87" name="Google Shape;87;p16"/>
          <p:cNvSpPr/>
          <p:nvPr/>
        </p:nvSpPr>
        <p:spPr>
          <a:xfrm>
            <a:off x="-4326350" y="3238850"/>
            <a:ext cx="906900" cy="906900"/>
          </a:xfrm>
          <a:prstGeom prst="ellipse">
            <a:avLst/>
          </a:prstGeom>
          <a:solidFill>
            <a:srgbClr val="4285F4"/>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vi" sz="2400">
                <a:solidFill>
                  <a:srgbClr val="FFFFFF"/>
                </a:solidFill>
                <a:latin typeface="Google Sans"/>
                <a:ea typeface="Google Sans"/>
                <a:cs typeface="Google Sans"/>
                <a:sym typeface="Google Sans"/>
              </a:rPr>
              <a:t>1</a:t>
            </a:r>
            <a:endParaRPr sz="2400">
              <a:solidFill>
                <a:srgbClr val="FFFFFF"/>
              </a:solidFill>
              <a:latin typeface="Google Sans"/>
              <a:ea typeface="Google Sans"/>
              <a:cs typeface="Google Sans"/>
              <a:sym typeface="Google Sans"/>
            </a:endParaRPr>
          </a:p>
        </p:txBody>
      </p:sp>
      <p:sp>
        <p:nvSpPr>
          <p:cNvPr id="88" name="Google Shape;88;p16"/>
          <p:cNvSpPr/>
          <p:nvPr/>
        </p:nvSpPr>
        <p:spPr>
          <a:xfrm>
            <a:off x="-4326350" y="638650"/>
            <a:ext cx="906900" cy="906900"/>
          </a:xfrm>
          <a:prstGeom prst="ellipse">
            <a:avLst/>
          </a:prstGeom>
          <a:solidFill>
            <a:srgbClr val="DB4437"/>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vi" sz="2400">
                <a:solidFill>
                  <a:srgbClr val="FFFFFF"/>
                </a:solidFill>
                <a:latin typeface="Google Sans"/>
                <a:ea typeface="Google Sans"/>
                <a:cs typeface="Google Sans"/>
                <a:sym typeface="Google Sans"/>
              </a:rPr>
              <a:t>2</a:t>
            </a:r>
            <a:endParaRPr sz="2400">
              <a:solidFill>
                <a:srgbClr val="FFFFFF"/>
              </a:solidFill>
              <a:latin typeface="Google Sans"/>
              <a:ea typeface="Google Sans"/>
              <a:cs typeface="Google Sans"/>
              <a:sym typeface="Google Sans"/>
            </a:endParaRPr>
          </a:p>
        </p:txBody>
      </p:sp>
      <p:sp>
        <p:nvSpPr>
          <p:cNvPr id="89" name="Google Shape;89;p16"/>
          <p:cNvSpPr/>
          <p:nvPr/>
        </p:nvSpPr>
        <p:spPr>
          <a:xfrm>
            <a:off x="-4326350" y="4320050"/>
            <a:ext cx="906900" cy="906900"/>
          </a:xfrm>
          <a:prstGeom prst="ellipse">
            <a:avLst/>
          </a:prstGeom>
          <a:solidFill>
            <a:srgbClr val="FFA65C"/>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vi" sz="2400">
                <a:solidFill>
                  <a:srgbClr val="FFFFFF"/>
                </a:solidFill>
                <a:latin typeface="Google Sans"/>
                <a:ea typeface="Google Sans"/>
                <a:cs typeface="Google Sans"/>
                <a:sym typeface="Google Sans"/>
              </a:rPr>
              <a:t>3</a:t>
            </a:r>
            <a:endParaRPr sz="2400">
              <a:solidFill>
                <a:srgbClr val="FFFFFF"/>
              </a:solidFill>
              <a:latin typeface="Google Sans"/>
              <a:ea typeface="Google Sans"/>
              <a:cs typeface="Google Sans"/>
              <a:sym typeface="Google Sans"/>
            </a:endParaRPr>
          </a:p>
        </p:txBody>
      </p:sp>
      <p:sp>
        <p:nvSpPr>
          <p:cNvPr id="90" name="Google Shape;90;p16"/>
          <p:cNvSpPr/>
          <p:nvPr/>
        </p:nvSpPr>
        <p:spPr>
          <a:xfrm>
            <a:off x="-4326350" y="1837450"/>
            <a:ext cx="906900" cy="906900"/>
          </a:xfrm>
          <a:prstGeom prst="ellipse">
            <a:avLst/>
          </a:prstGeom>
          <a:solidFill>
            <a:srgbClr val="34A853"/>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vi" sz="2400">
                <a:solidFill>
                  <a:srgbClr val="FFFFFF"/>
                </a:solidFill>
                <a:latin typeface="Google Sans"/>
                <a:ea typeface="Google Sans"/>
                <a:cs typeface="Google Sans"/>
                <a:sym typeface="Google Sans"/>
              </a:rPr>
              <a:t>4</a:t>
            </a:r>
            <a:endParaRPr sz="2400">
              <a:solidFill>
                <a:srgbClr val="FFFFFF"/>
              </a:solidFill>
              <a:latin typeface="Google Sans"/>
              <a:ea typeface="Google Sans"/>
              <a:cs typeface="Google Sans"/>
              <a:sym typeface="Google Sans"/>
            </a:endParaRPr>
          </a:p>
        </p:txBody>
      </p:sp>
      <p:graphicFrame>
        <p:nvGraphicFramePr>
          <p:cNvPr id="91" name="Google Shape;91;p16"/>
          <p:cNvGraphicFramePr/>
          <p:nvPr/>
        </p:nvGraphicFramePr>
        <p:xfrm>
          <a:off x="1404225" y="1715800"/>
          <a:ext cx="3000000" cy="3000000"/>
        </p:xfrm>
        <a:graphic>
          <a:graphicData uri="http://schemas.openxmlformats.org/drawingml/2006/table">
            <a:tbl>
              <a:tblPr>
                <a:noFill/>
                <a:tableStyleId>{CC1276C0-6981-4609-A010-DFFA6C89669A}</a:tableStyleId>
              </a:tblPr>
              <a:tblGrid>
                <a:gridCol w="1473825"/>
                <a:gridCol w="4861725"/>
              </a:tblGrid>
              <a:tr h="381000">
                <a:tc>
                  <a:txBody>
                    <a:bodyPr/>
                    <a:lstStyle/>
                    <a:p>
                      <a:pPr indent="0" lvl="0" marL="0" rtl="0" algn="l">
                        <a:spcBef>
                          <a:spcPts val="0"/>
                        </a:spcBef>
                        <a:spcAft>
                          <a:spcPts val="0"/>
                        </a:spcAft>
                        <a:buNone/>
                      </a:pPr>
                      <a:r>
                        <a:rPr b="1" lang="vi" sz="1600">
                          <a:latin typeface="Google Sans"/>
                          <a:ea typeface="Google Sans"/>
                          <a:cs typeface="Google Sans"/>
                          <a:sym typeface="Google Sans"/>
                        </a:rPr>
                        <a:t>Time</a:t>
                      </a:r>
                      <a:endParaRPr b="1" sz="1600">
                        <a:latin typeface="Google Sans"/>
                        <a:ea typeface="Google Sans"/>
                        <a:cs typeface="Google Sans"/>
                        <a:sym typeface="Google Sans"/>
                      </a:endParaRPr>
                    </a:p>
                  </a:txBody>
                  <a:tcPr marT="91425" marB="91425" marR="91425" marL="91425">
                    <a:solidFill>
                      <a:srgbClr val="CCCCCC"/>
                    </a:solidFill>
                  </a:tcPr>
                </a:tc>
                <a:tc>
                  <a:txBody>
                    <a:bodyPr/>
                    <a:lstStyle/>
                    <a:p>
                      <a:pPr indent="0" lvl="0" marL="0" rtl="0" algn="l">
                        <a:spcBef>
                          <a:spcPts val="0"/>
                        </a:spcBef>
                        <a:spcAft>
                          <a:spcPts val="0"/>
                        </a:spcAft>
                        <a:buNone/>
                      </a:pPr>
                      <a:r>
                        <a:rPr b="1" lang="vi" sz="1600">
                          <a:latin typeface="Google Sans"/>
                          <a:ea typeface="Google Sans"/>
                          <a:cs typeface="Google Sans"/>
                          <a:sym typeface="Google Sans"/>
                        </a:rPr>
                        <a:t>Activities</a:t>
                      </a:r>
                      <a:endParaRPr b="1" sz="1600">
                        <a:latin typeface="Google Sans"/>
                        <a:ea typeface="Google Sans"/>
                        <a:cs typeface="Google Sans"/>
                        <a:sym typeface="Google Sans"/>
                      </a:endParaRPr>
                    </a:p>
                  </a:txBody>
                  <a:tcPr marT="91425" marB="91425" marR="91425" marL="91425">
                    <a:solidFill>
                      <a:srgbClr val="CCCCCC"/>
                    </a:solidFill>
                  </a:tcPr>
                </a:tc>
              </a:tr>
              <a:tr h="381000">
                <a:tc>
                  <a:txBody>
                    <a:bodyPr/>
                    <a:lstStyle/>
                    <a:p>
                      <a:pPr indent="0" lvl="0" marL="0" rtl="0" algn="l">
                        <a:spcBef>
                          <a:spcPts val="0"/>
                        </a:spcBef>
                        <a:spcAft>
                          <a:spcPts val="0"/>
                        </a:spcAft>
                        <a:buNone/>
                      </a:pPr>
                      <a:r>
                        <a:rPr lang="vi" sz="1600">
                          <a:latin typeface="Google Sans"/>
                          <a:ea typeface="Google Sans"/>
                          <a:cs typeface="Google Sans"/>
                          <a:sym typeface="Google Sans"/>
                        </a:rPr>
                        <a:t>09</a:t>
                      </a:r>
                      <a:r>
                        <a:rPr lang="vi" sz="1600">
                          <a:latin typeface="Google Sans"/>
                          <a:ea typeface="Google Sans"/>
                          <a:cs typeface="Google Sans"/>
                          <a:sym typeface="Google Sans"/>
                        </a:rPr>
                        <a:t>:00 - 12:15</a:t>
                      </a:r>
                      <a:endParaRPr sz="1600">
                        <a:latin typeface="Google Sans"/>
                        <a:ea typeface="Google Sans"/>
                        <a:cs typeface="Google Sans"/>
                        <a:sym typeface="Google Sans"/>
                      </a:endParaRPr>
                    </a:p>
                  </a:txBody>
                  <a:tcPr marT="91425" marB="91425" marR="91425" marL="91425"/>
                </a:tc>
                <a:tc>
                  <a:txBody>
                    <a:bodyPr/>
                    <a:lstStyle/>
                    <a:p>
                      <a:pPr indent="0" lvl="0" marL="0" rtl="0" algn="l">
                        <a:spcBef>
                          <a:spcPts val="0"/>
                        </a:spcBef>
                        <a:spcAft>
                          <a:spcPts val="0"/>
                        </a:spcAft>
                        <a:buNone/>
                      </a:pPr>
                      <a:r>
                        <a:rPr lang="vi" sz="1600">
                          <a:latin typeface="Google Sans"/>
                          <a:ea typeface="Google Sans"/>
                          <a:cs typeface="Google Sans"/>
                          <a:sym typeface="Google Sans"/>
                        </a:rPr>
                        <a:t>🟢 Lý thuyết &amp; Live Demo</a:t>
                      </a:r>
                      <a:endParaRPr sz="1600">
                        <a:latin typeface="Google Sans"/>
                        <a:ea typeface="Google Sans"/>
                        <a:cs typeface="Google Sans"/>
                        <a:sym typeface="Google Sans"/>
                      </a:endParaRPr>
                    </a:p>
                  </a:txBody>
                  <a:tcPr marT="91425" marB="91425" marR="91425" marL="91425"/>
                </a:tc>
              </a:tr>
              <a:tr h="381000">
                <a:tc>
                  <a:txBody>
                    <a:bodyPr/>
                    <a:lstStyle/>
                    <a:p>
                      <a:pPr indent="0" lvl="0" marL="0" rtl="0" algn="l">
                        <a:spcBef>
                          <a:spcPts val="0"/>
                        </a:spcBef>
                        <a:spcAft>
                          <a:spcPts val="0"/>
                        </a:spcAft>
                        <a:buNone/>
                      </a:pPr>
                      <a:r>
                        <a:rPr lang="vi" sz="1600">
                          <a:latin typeface="Google Sans"/>
                          <a:ea typeface="Google Sans"/>
                          <a:cs typeface="Google Sans"/>
                          <a:sym typeface="Google Sans"/>
                        </a:rPr>
                        <a:t>12:15 - 13:30</a:t>
                      </a:r>
                      <a:endParaRPr sz="1600">
                        <a:latin typeface="Google Sans"/>
                        <a:ea typeface="Google Sans"/>
                        <a:cs typeface="Google Sans"/>
                        <a:sym typeface="Google Sans"/>
                      </a:endParaRPr>
                    </a:p>
                  </a:txBody>
                  <a:tcPr marT="91425" marB="91425" marR="91425" marL="91425"/>
                </a:tc>
                <a:tc>
                  <a:txBody>
                    <a:bodyPr/>
                    <a:lstStyle/>
                    <a:p>
                      <a:pPr indent="0" lvl="0" marL="0" rtl="0" algn="l">
                        <a:spcBef>
                          <a:spcPts val="0"/>
                        </a:spcBef>
                        <a:spcAft>
                          <a:spcPts val="0"/>
                        </a:spcAft>
                        <a:buNone/>
                      </a:pPr>
                      <a:r>
                        <a:rPr lang="vi" sz="1600">
                          <a:latin typeface="Google Sans"/>
                          <a:ea typeface="Google Sans"/>
                          <a:cs typeface="Google Sans"/>
                          <a:sym typeface="Google Sans"/>
                        </a:rPr>
                        <a:t>☕ Nghỉ trưa</a:t>
                      </a:r>
                      <a:endParaRPr sz="1600">
                        <a:latin typeface="Google Sans"/>
                        <a:ea typeface="Google Sans"/>
                        <a:cs typeface="Google Sans"/>
                        <a:sym typeface="Google Sans"/>
                      </a:endParaRPr>
                    </a:p>
                  </a:txBody>
                  <a:tcPr marT="91425" marB="91425" marR="91425" marL="91425"/>
                </a:tc>
              </a:tr>
              <a:tr h="381000">
                <a:tc>
                  <a:txBody>
                    <a:bodyPr/>
                    <a:lstStyle/>
                    <a:p>
                      <a:pPr indent="0" lvl="0" marL="0" rtl="0" algn="l">
                        <a:spcBef>
                          <a:spcPts val="0"/>
                        </a:spcBef>
                        <a:spcAft>
                          <a:spcPts val="0"/>
                        </a:spcAft>
                        <a:buNone/>
                      </a:pPr>
                      <a:r>
                        <a:rPr lang="vi" sz="1600">
                          <a:latin typeface="Google Sans"/>
                          <a:ea typeface="Google Sans"/>
                          <a:cs typeface="Google Sans"/>
                          <a:sym typeface="Google Sans"/>
                        </a:rPr>
                        <a:t>14:55 - 15:15</a:t>
                      </a:r>
                      <a:endParaRPr sz="1600">
                        <a:latin typeface="Google Sans"/>
                        <a:ea typeface="Google Sans"/>
                        <a:cs typeface="Google Sans"/>
                        <a:sym typeface="Google Sans"/>
                      </a:endParaRPr>
                    </a:p>
                  </a:txBody>
                  <a:tcPr marT="91425" marB="91425" marR="91425" marL="91425"/>
                </a:tc>
                <a:tc>
                  <a:txBody>
                    <a:bodyPr/>
                    <a:lstStyle/>
                    <a:p>
                      <a:pPr indent="0" lvl="0" marL="0" rtl="0" algn="l">
                        <a:spcBef>
                          <a:spcPts val="0"/>
                        </a:spcBef>
                        <a:spcAft>
                          <a:spcPts val="0"/>
                        </a:spcAft>
                        <a:buNone/>
                      </a:pPr>
                      <a:r>
                        <a:rPr lang="vi" sz="1600">
                          <a:latin typeface="Google Sans"/>
                          <a:ea typeface="Google Sans"/>
                          <a:cs typeface="Google Sans"/>
                          <a:sym typeface="Google Sans"/>
                        </a:rPr>
                        <a:t>🟡 Hands-on Lab: AI Product Discovery &amp; Prompt Prototyping</a:t>
                      </a:r>
                      <a:endParaRPr sz="1600">
                        <a:latin typeface="Google Sans"/>
                        <a:ea typeface="Google Sans"/>
                        <a:cs typeface="Google Sans"/>
                        <a:sym typeface="Google Sans"/>
                      </a:endParaRPr>
                    </a:p>
                  </a:txBody>
                  <a:tcPr marT="91425" marB="91425" marR="91425" marL="91425"/>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7"/>
          <p:cNvSpPr txBox="1"/>
          <p:nvPr/>
        </p:nvSpPr>
        <p:spPr>
          <a:xfrm>
            <a:off x="471008" y="412125"/>
            <a:ext cx="8520600" cy="7377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1000"/>
              </a:spcAft>
              <a:buNone/>
            </a:pPr>
            <a:r>
              <a:rPr b="1" lang="vi" sz="3000">
                <a:solidFill>
                  <a:srgbClr val="DB4437"/>
                </a:solidFill>
                <a:latin typeface="Google Sans"/>
                <a:ea typeface="Google Sans"/>
                <a:cs typeface="Google Sans"/>
                <a:sym typeface="Google Sans"/>
              </a:rPr>
              <a:t>Live Demo: Self-attention</a:t>
            </a:r>
            <a:endParaRPr sz="3000">
              <a:solidFill>
                <a:srgbClr val="DB4437"/>
              </a:solidFill>
            </a:endParaRPr>
          </a:p>
        </p:txBody>
      </p:sp>
      <p:cxnSp>
        <p:nvCxnSpPr>
          <p:cNvPr id="97" name="Google Shape;97;p17"/>
          <p:cNvCxnSpPr/>
          <p:nvPr/>
        </p:nvCxnSpPr>
        <p:spPr>
          <a:xfrm rot="10800000">
            <a:off x="-5220205" y="2290902"/>
            <a:ext cx="2156400" cy="0"/>
          </a:xfrm>
          <a:prstGeom prst="straightConnector1">
            <a:avLst/>
          </a:prstGeom>
          <a:noFill/>
          <a:ln cap="flat" cmpd="sng" w="38100">
            <a:solidFill>
              <a:srgbClr val="A7A7A7"/>
            </a:solidFill>
            <a:prstDash val="solid"/>
            <a:round/>
            <a:headEnd len="med" w="med" type="stealth"/>
            <a:tailEnd len="med" w="med" type="stealth"/>
          </a:ln>
        </p:spPr>
      </p:cxnSp>
      <p:sp>
        <p:nvSpPr>
          <p:cNvPr id="98" name="Google Shape;98;p17"/>
          <p:cNvSpPr/>
          <p:nvPr/>
        </p:nvSpPr>
        <p:spPr>
          <a:xfrm>
            <a:off x="-4326350" y="3238850"/>
            <a:ext cx="906900" cy="906900"/>
          </a:xfrm>
          <a:prstGeom prst="ellipse">
            <a:avLst/>
          </a:prstGeom>
          <a:solidFill>
            <a:srgbClr val="4285F4"/>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vi" sz="2400">
                <a:solidFill>
                  <a:srgbClr val="FFFFFF"/>
                </a:solidFill>
                <a:latin typeface="Google Sans"/>
                <a:ea typeface="Google Sans"/>
                <a:cs typeface="Google Sans"/>
                <a:sym typeface="Google Sans"/>
              </a:rPr>
              <a:t>1</a:t>
            </a:r>
            <a:endParaRPr sz="2400">
              <a:solidFill>
                <a:srgbClr val="FFFFFF"/>
              </a:solidFill>
              <a:latin typeface="Google Sans"/>
              <a:ea typeface="Google Sans"/>
              <a:cs typeface="Google Sans"/>
              <a:sym typeface="Google Sans"/>
            </a:endParaRPr>
          </a:p>
        </p:txBody>
      </p:sp>
      <p:sp>
        <p:nvSpPr>
          <p:cNvPr id="99" name="Google Shape;99;p17"/>
          <p:cNvSpPr/>
          <p:nvPr/>
        </p:nvSpPr>
        <p:spPr>
          <a:xfrm>
            <a:off x="-4326350" y="638650"/>
            <a:ext cx="906900" cy="906900"/>
          </a:xfrm>
          <a:prstGeom prst="ellipse">
            <a:avLst/>
          </a:prstGeom>
          <a:solidFill>
            <a:srgbClr val="DB4437"/>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vi" sz="2400">
                <a:solidFill>
                  <a:srgbClr val="FFFFFF"/>
                </a:solidFill>
                <a:latin typeface="Google Sans"/>
                <a:ea typeface="Google Sans"/>
                <a:cs typeface="Google Sans"/>
                <a:sym typeface="Google Sans"/>
              </a:rPr>
              <a:t>2</a:t>
            </a:r>
            <a:endParaRPr sz="2400">
              <a:solidFill>
                <a:srgbClr val="FFFFFF"/>
              </a:solidFill>
              <a:latin typeface="Google Sans"/>
              <a:ea typeface="Google Sans"/>
              <a:cs typeface="Google Sans"/>
              <a:sym typeface="Google Sans"/>
            </a:endParaRPr>
          </a:p>
        </p:txBody>
      </p:sp>
      <p:sp>
        <p:nvSpPr>
          <p:cNvPr id="100" name="Google Shape;100;p17"/>
          <p:cNvSpPr/>
          <p:nvPr/>
        </p:nvSpPr>
        <p:spPr>
          <a:xfrm>
            <a:off x="-4326350" y="4320050"/>
            <a:ext cx="906900" cy="906900"/>
          </a:xfrm>
          <a:prstGeom prst="ellipse">
            <a:avLst/>
          </a:prstGeom>
          <a:solidFill>
            <a:srgbClr val="FFA65C"/>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vi" sz="2400">
                <a:solidFill>
                  <a:srgbClr val="FFFFFF"/>
                </a:solidFill>
                <a:latin typeface="Google Sans"/>
                <a:ea typeface="Google Sans"/>
                <a:cs typeface="Google Sans"/>
                <a:sym typeface="Google Sans"/>
              </a:rPr>
              <a:t>3</a:t>
            </a:r>
            <a:endParaRPr sz="2400">
              <a:solidFill>
                <a:srgbClr val="FFFFFF"/>
              </a:solidFill>
              <a:latin typeface="Google Sans"/>
              <a:ea typeface="Google Sans"/>
              <a:cs typeface="Google Sans"/>
              <a:sym typeface="Google Sans"/>
            </a:endParaRPr>
          </a:p>
        </p:txBody>
      </p:sp>
      <p:sp>
        <p:nvSpPr>
          <p:cNvPr id="101" name="Google Shape;101;p17"/>
          <p:cNvSpPr/>
          <p:nvPr/>
        </p:nvSpPr>
        <p:spPr>
          <a:xfrm>
            <a:off x="-4326350" y="1837450"/>
            <a:ext cx="906900" cy="906900"/>
          </a:xfrm>
          <a:prstGeom prst="ellipse">
            <a:avLst/>
          </a:prstGeom>
          <a:solidFill>
            <a:srgbClr val="34A853"/>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vi" sz="2400">
                <a:solidFill>
                  <a:srgbClr val="FFFFFF"/>
                </a:solidFill>
                <a:latin typeface="Google Sans"/>
                <a:ea typeface="Google Sans"/>
                <a:cs typeface="Google Sans"/>
                <a:sym typeface="Google Sans"/>
              </a:rPr>
              <a:t>4</a:t>
            </a:r>
            <a:endParaRPr sz="2400">
              <a:solidFill>
                <a:srgbClr val="FFFFFF"/>
              </a:solidFill>
              <a:latin typeface="Google Sans"/>
              <a:ea typeface="Google Sans"/>
              <a:cs typeface="Google Sans"/>
              <a:sym typeface="Google Sans"/>
            </a:endParaRPr>
          </a:p>
        </p:txBody>
      </p:sp>
      <p:sp>
        <p:nvSpPr>
          <p:cNvPr id="102" name="Google Shape;102;p17"/>
          <p:cNvSpPr txBox="1"/>
          <p:nvPr/>
        </p:nvSpPr>
        <p:spPr>
          <a:xfrm>
            <a:off x="1362525" y="3980225"/>
            <a:ext cx="7130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vi" sz="1800" u="sng">
                <a:solidFill>
                  <a:schemeClr val="hlink"/>
                </a:solidFill>
                <a:hlinkClick r:id="rId3"/>
              </a:rPr>
              <a:t>https://colab.research.google.com/drive/1KwOIXDb_9sFj19NXMBj-6N3PDlxV3d9l?usp=sharing</a:t>
            </a:r>
            <a:endParaRPr sz="1800"/>
          </a:p>
        </p:txBody>
      </p:sp>
      <p:pic>
        <p:nvPicPr>
          <p:cNvPr id="103" name="Google Shape;103;p17"/>
          <p:cNvPicPr preferRelativeResize="0"/>
          <p:nvPr/>
        </p:nvPicPr>
        <p:blipFill>
          <a:blip r:embed="rId4">
            <a:alphaModFix/>
          </a:blip>
          <a:stretch>
            <a:fillRect/>
          </a:stretch>
        </p:blipFill>
        <p:spPr>
          <a:xfrm>
            <a:off x="3252100" y="1156550"/>
            <a:ext cx="2844017" cy="2830400"/>
          </a:xfrm>
          <a:prstGeom prst="rect">
            <a:avLst/>
          </a:prstGeom>
          <a:noFill/>
          <a:ln>
            <a:noFill/>
          </a:ln>
        </p:spPr>
      </p:pic>
      <p:pic>
        <p:nvPicPr>
          <p:cNvPr id="104" name="Google Shape;104;p17"/>
          <p:cNvPicPr preferRelativeResize="0"/>
          <p:nvPr/>
        </p:nvPicPr>
        <p:blipFill>
          <a:blip r:embed="rId5">
            <a:alphaModFix/>
          </a:blip>
          <a:stretch>
            <a:fillRect/>
          </a:stretch>
        </p:blipFill>
        <p:spPr>
          <a:xfrm>
            <a:off x="5257075" y="412125"/>
            <a:ext cx="1317075" cy="8105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18"/>
          <p:cNvSpPr txBox="1"/>
          <p:nvPr/>
        </p:nvSpPr>
        <p:spPr>
          <a:xfrm>
            <a:off x="311708" y="-238425"/>
            <a:ext cx="8520600" cy="20526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vi" sz="3200">
                <a:latin typeface="Google Sans"/>
                <a:ea typeface="Google Sans"/>
                <a:cs typeface="Google Sans"/>
                <a:sym typeface="Google Sans"/>
              </a:rPr>
              <a:t>Tổng quan Codelab (Codelab Overview)</a:t>
            </a:r>
            <a:endParaRPr b="1" sz="3200">
              <a:solidFill>
                <a:srgbClr val="000000"/>
              </a:solidFill>
              <a:latin typeface="Google Sans"/>
              <a:ea typeface="Google Sans"/>
              <a:cs typeface="Google Sans"/>
              <a:sym typeface="Google Sans"/>
            </a:endParaRPr>
          </a:p>
          <a:p>
            <a:pPr indent="0" lvl="0" marL="0" rtl="0" algn="l">
              <a:spcBef>
                <a:spcPts val="1000"/>
              </a:spcBef>
              <a:spcAft>
                <a:spcPts val="1000"/>
              </a:spcAft>
              <a:buNone/>
            </a:pPr>
            <a:br>
              <a:rPr lang="vi" sz="2400">
                <a:solidFill>
                  <a:srgbClr val="434343"/>
                </a:solidFill>
                <a:latin typeface="Google Sans Medium"/>
                <a:ea typeface="Google Sans Medium"/>
                <a:cs typeface="Google Sans Medium"/>
                <a:sym typeface="Google Sans Medium"/>
              </a:rPr>
            </a:br>
            <a:r>
              <a:rPr lang="vi" sz="2400">
                <a:solidFill>
                  <a:srgbClr val="434343"/>
                </a:solidFill>
                <a:latin typeface="Google Sans Medium"/>
                <a:ea typeface="Google Sans Medium"/>
                <a:cs typeface="Google Sans Medium"/>
                <a:sym typeface="Google Sans Medium"/>
              </a:rPr>
              <a:t>	</a:t>
            </a:r>
            <a:endParaRPr sz="2000">
              <a:solidFill>
                <a:srgbClr val="434343"/>
              </a:solidFill>
            </a:endParaRPr>
          </a:p>
        </p:txBody>
      </p:sp>
      <p:sp>
        <p:nvSpPr>
          <p:cNvPr id="110" name="Google Shape;110;p18"/>
          <p:cNvSpPr txBox="1"/>
          <p:nvPr/>
        </p:nvSpPr>
        <p:spPr>
          <a:xfrm>
            <a:off x="311700" y="987000"/>
            <a:ext cx="8250600" cy="3840300"/>
          </a:xfrm>
          <a:prstGeom prst="rect">
            <a:avLst/>
          </a:prstGeom>
          <a:noFill/>
          <a:ln>
            <a:noFill/>
          </a:ln>
        </p:spPr>
        <p:txBody>
          <a:bodyPr anchorCtr="0" anchor="t" bIns="91425" lIns="91425" spcFirstLastPara="1" rIns="91425" wrap="square" tIns="91425">
            <a:spAutoFit/>
          </a:bodyPr>
          <a:lstStyle/>
          <a:p>
            <a:pPr indent="-349250" lvl="0" marL="457200" rtl="0" algn="l">
              <a:lnSpc>
                <a:spcPct val="115000"/>
              </a:lnSpc>
              <a:spcBef>
                <a:spcPts val="0"/>
              </a:spcBef>
              <a:spcAft>
                <a:spcPts val="0"/>
              </a:spcAft>
              <a:buClr>
                <a:srgbClr val="434343"/>
              </a:buClr>
              <a:buSzPts val="1900"/>
              <a:buFont typeface="Google Sans Medium"/>
              <a:buChar char="●"/>
            </a:pPr>
            <a:r>
              <a:rPr lang="vi" sz="1900">
                <a:solidFill>
                  <a:srgbClr val="434343"/>
                </a:solidFill>
                <a:latin typeface="Google Sans Medium"/>
                <a:ea typeface="Google Sans Medium"/>
                <a:cs typeface="Google Sans Medium"/>
                <a:sym typeface="Google Sans Medium"/>
              </a:rPr>
              <a:t>Học viên đóng vai trò là AI Product Engineer tại Vin Smart Future, tiến hành scoping, phân tích độ khả thi và xây dựng prompt prototype cho một bài toán thực tế.</a:t>
            </a:r>
            <a:endParaRPr sz="1900">
              <a:solidFill>
                <a:srgbClr val="434343"/>
              </a:solidFill>
              <a:latin typeface="Google Sans Medium"/>
              <a:ea typeface="Google Sans Medium"/>
              <a:cs typeface="Google Sans Medium"/>
              <a:sym typeface="Google Sans Medium"/>
            </a:endParaRPr>
          </a:p>
          <a:p>
            <a:pPr indent="-349250" lvl="0" marL="457200" rtl="0" algn="l">
              <a:lnSpc>
                <a:spcPct val="115000"/>
              </a:lnSpc>
              <a:spcBef>
                <a:spcPts val="0"/>
              </a:spcBef>
              <a:spcAft>
                <a:spcPts val="0"/>
              </a:spcAft>
              <a:buClr>
                <a:srgbClr val="434343"/>
              </a:buClr>
              <a:buSzPts val="1900"/>
              <a:buFont typeface="Google Sans Medium"/>
              <a:buChar char="●"/>
            </a:pPr>
            <a:r>
              <a:rPr lang="vi" sz="1900">
                <a:solidFill>
                  <a:srgbClr val="434343"/>
                </a:solidFill>
                <a:latin typeface="Google Sans Medium"/>
                <a:ea typeface="Google Sans Medium"/>
                <a:cs typeface="Google Sans Medium"/>
                <a:sym typeface="Google Sans Medium"/>
              </a:rPr>
              <a:t>Xác định bài toán chuẩn doanh nghiệp: Xây dựng Problem Statement và các Metrics rõ ràng.</a:t>
            </a:r>
            <a:endParaRPr sz="1900">
              <a:solidFill>
                <a:srgbClr val="434343"/>
              </a:solidFill>
              <a:latin typeface="Google Sans Medium"/>
              <a:ea typeface="Google Sans Medium"/>
              <a:cs typeface="Google Sans Medium"/>
              <a:sym typeface="Google Sans Medium"/>
            </a:endParaRPr>
          </a:p>
          <a:p>
            <a:pPr indent="-349250" lvl="0" marL="457200" rtl="0" algn="l">
              <a:lnSpc>
                <a:spcPct val="115000"/>
              </a:lnSpc>
              <a:spcBef>
                <a:spcPts val="0"/>
              </a:spcBef>
              <a:spcAft>
                <a:spcPts val="0"/>
              </a:spcAft>
              <a:buClr>
                <a:srgbClr val="434343"/>
              </a:buClr>
              <a:buSzPts val="1900"/>
              <a:buFont typeface="Google Sans Medium"/>
              <a:buChar char="●"/>
            </a:pPr>
            <a:r>
              <a:rPr lang="vi" sz="1900">
                <a:solidFill>
                  <a:srgbClr val="434343"/>
                </a:solidFill>
                <a:latin typeface="Google Sans Medium"/>
                <a:ea typeface="Google Sans Medium"/>
                <a:cs typeface="Google Sans Medium"/>
                <a:sym typeface="Google Sans Medium"/>
              </a:rPr>
              <a:t>Lựa chọn giải pháp phù hợp (AI-Fit): Phân biệt và lựa chọn đúng giữa Rule-based, LLM Feature, và Agentic Loop.</a:t>
            </a:r>
            <a:endParaRPr sz="1900">
              <a:solidFill>
                <a:srgbClr val="434343"/>
              </a:solidFill>
              <a:latin typeface="Google Sans Medium"/>
              <a:ea typeface="Google Sans Medium"/>
              <a:cs typeface="Google Sans Medium"/>
              <a:sym typeface="Google Sans Medium"/>
            </a:endParaRPr>
          </a:p>
          <a:p>
            <a:pPr indent="-349250" lvl="0" marL="457200" rtl="0" algn="l">
              <a:lnSpc>
                <a:spcPct val="115000"/>
              </a:lnSpc>
              <a:spcBef>
                <a:spcPts val="0"/>
              </a:spcBef>
              <a:spcAft>
                <a:spcPts val="0"/>
              </a:spcAft>
              <a:buClr>
                <a:srgbClr val="434343"/>
              </a:buClr>
              <a:buSzPts val="1900"/>
              <a:buFont typeface="Google Sans Medium"/>
              <a:buChar char="●"/>
            </a:pPr>
            <a:r>
              <a:rPr lang="vi" sz="1900">
                <a:solidFill>
                  <a:srgbClr val="434343"/>
                </a:solidFill>
                <a:latin typeface="Google Sans Medium"/>
                <a:ea typeface="Google Sans Medium"/>
                <a:cs typeface="Google Sans Medium"/>
                <a:sym typeface="Google Sans Medium"/>
              </a:rPr>
              <a:t>Thiết kế ranh giới an toàn: Thiết lập Operational Boundary và cơ chế Human-in-the-loop kết hợp dự phòng (Fallback).</a:t>
            </a:r>
            <a:endParaRPr sz="1900">
              <a:solidFill>
                <a:srgbClr val="434343"/>
              </a:solidFill>
              <a:latin typeface="Google Sans Medium"/>
              <a:ea typeface="Google Sans Medium"/>
              <a:cs typeface="Google Sans Medium"/>
              <a:sym typeface="Google Sans Medium"/>
            </a:endParaRPr>
          </a:p>
          <a:p>
            <a:pPr indent="-349250" lvl="0" marL="457200" rtl="0" algn="l">
              <a:lnSpc>
                <a:spcPct val="115000"/>
              </a:lnSpc>
              <a:spcBef>
                <a:spcPts val="0"/>
              </a:spcBef>
              <a:spcAft>
                <a:spcPts val="0"/>
              </a:spcAft>
              <a:buClr>
                <a:srgbClr val="434343"/>
              </a:buClr>
              <a:buSzPts val="1900"/>
              <a:buFont typeface="Google Sans Medium"/>
              <a:buChar char="●"/>
            </a:pPr>
            <a:r>
              <a:rPr lang="vi" sz="1900">
                <a:solidFill>
                  <a:srgbClr val="434343"/>
                </a:solidFill>
                <a:latin typeface="Google Sans Medium"/>
                <a:ea typeface="Google Sans Medium"/>
                <a:cs typeface="Google Sans Medium"/>
                <a:sym typeface="Google Sans Medium"/>
              </a:rPr>
              <a:t>Stress-test Prompt: Lập trình Python sử dụng Gemini 2.5 SDK để tự động kiểm tra khả năng bảo vệ ranh giới trước Prompt Injection.</a:t>
            </a:r>
            <a:endParaRPr sz="1900">
              <a:solidFill>
                <a:srgbClr val="434343"/>
              </a:solidFill>
              <a:latin typeface="Google Sans Medium"/>
              <a:ea typeface="Google Sans Medium"/>
              <a:cs typeface="Google Sans Medium"/>
              <a:sym typeface="Google Sans Medium"/>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19"/>
          <p:cNvSpPr txBox="1"/>
          <p:nvPr/>
        </p:nvSpPr>
        <p:spPr>
          <a:xfrm>
            <a:off x="311708" y="-238425"/>
            <a:ext cx="8520600" cy="20526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vi" sz="3200">
                <a:latin typeface="Google Sans"/>
                <a:ea typeface="Google Sans"/>
                <a:cs typeface="Google Sans"/>
                <a:sym typeface="Google Sans"/>
              </a:rPr>
              <a:t>Lưu ý</a:t>
            </a:r>
            <a:endParaRPr b="1" sz="3200">
              <a:solidFill>
                <a:srgbClr val="000000"/>
              </a:solidFill>
              <a:latin typeface="Google Sans"/>
              <a:ea typeface="Google Sans"/>
              <a:cs typeface="Google Sans"/>
              <a:sym typeface="Google Sans"/>
            </a:endParaRPr>
          </a:p>
          <a:p>
            <a:pPr indent="0" lvl="0" marL="0" rtl="0" algn="l">
              <a:spcBef>
                <a:spcPts val="1000"/>
              </a:spcBef>
              <a:spcAft>
                <a:spcPts val="1000"/>
              </a:spcAft>
              <a:buNone/>
            </a:pPr>
            <a:br>
              <a:rPr lang="vi" sz="2400">
                <a:solidFill>
                  <a:srgbClr val="434343"/>
                </a:solidFill>
                <a:latin typeface="Google Sans Medium"/>
                <a:ea typeface="Google Sans Medium"/>
                <a:cs typeface="Google Sans Medium"/>
                <a:sym typeface="Google Sans Medium"/>
              </a:rPr>
            </a:br>
            <a:r>
              <a:rPr lang="vi" sz="2400">
                <a:solidFill>
                  <a:srgbClr val="434343"/>
                </a:solidFill>
                <a:latin typeface="Google Sans Medium"/>
                <a:ea typeface="Google Sans Medium"/>
                <a:cs typeface="Google Sans Medium"/>
                <a:sym typeface="Google Sans Medium"/>
              </a:rPr>
              <a:t>	</a:t>
            </a:r>
            <a:endParaRPr sz="2000">
              <a:solidFill>
                <a:srgbClr val="434343"/>
              </a:solidFill>
            </a:endParaRPr>
          </a:p>
        </p:txBody>
      </p:sp>
      <p:sp>
        <p:nvSpPr>
          <p:cNvPr id="116" name="Google Shape;116;p19"/>
          <p:cNvSpPr txBox="1"/>
          <p:nvPr/>
        </p:nvSpPr>
        <p:spPr>
          <a:xfrm>
            <a:off x="311700" y="1263450"/>
            <a:ext cx="8250600" cy="2616600"/>
          </a:xfrm>
          <a:prstGeom prst="rect">
            <a:avLst/>
          </a:prstGeom>
          <a:noFill/>
          <a:ln>
            <a:noFill/>
          </a:ln>
        </p:spPr>
        <p:txBody>
          <a:bodyPr anchorCtr="0" anchor="t" bIns="91425" lIns="91425" spcFirstLastPara="1" rIns="91425" wrap="square" tIns="91425">
            <a:spAutoFit/>
          </a:bodyPr>
          <a:lstStyle/>
          <a:p>
            <a:pPr indent="-355600" lvl="0" marL="457200" rtl="0" algn="l">
              <a:lnSpc>
                <a:spcPct val="115000"/>
              </a:lnSpc>
              <a:spcBef>
                <a:spcPts val="0"/>
              </a:spcBef>
              <a:spcAft>
                <a:spcPts val="0"/>
              </a:spcAft>
              <a:buClr>
                <a:srgbClr val="434343"/>
              </a:buClr>
              <a:buSzPts val="2000"/>
              <a:buFont typeface="Google Sans Medium"/>
              <a:buChar char="●"/>
            </a:pPr>
            <a:r>
              <a:rPr lang="vi" sz="2000">
                <a:solidFill>
                  <a:srgbClr val="434343"/>
                </a:solidFill>
                <a:latin typeface="Google Sans Medium"/>
                <a:ea typeface="Google Sans Medium"/>
                <a:cs typeface="Google Sans Medium"/>
                <a:sym typeface="Google Sans Medium"/>
              </a:rPr>
              <a:t>Đây là bài tập nhóm, yêu cầu tất cả thành viên trong nhóm phải có đóng góp. </a:t>
            </a:r>
            <a:endParaRPr sz="2000">
              <a:solidFill>
                <a:srgbClr val="434343"/>
              </a:solidFill>
              <a:latin typeface="Google Sans Medium"/>
              <a:ea typeface="Google Sans Medium"/>
              <a:cs typeface="Google Sans Medium"/>
              <a:sym typeface="Google Sans Medium"/>
            </a:endParaRPr>
          </a:p>
          <a:p>
            <a:pPr indent="-355600" lvl="0" marL="457200" rtl="0" algn="l">
              <a:lnSpc>
                <a:spcPct val="115000"/>
              </a:lnSpc>
              <a:spcBef>
                <a:spcPts val="0"/>
              </a:spcBef>
              <a:spcAft>
                <a:spcPts val="0"/>
              </a:spcAft>
              <a:buClr>
                <a:srgbClr val="434343"/>
              </a:buClr>
              <a:buSzPts val="2000"/>
              <a:buFont typeface="Google Sans Medium"/>
              <a:buChar char="●"/>
            </a:pPr>
            <a:r>
              <a:rPr lang="vi" sz="2000">
                <a:solidFill>
                  <a:srgbClr val="434343"/>
                </a:solidFill>
                <a:latin typeface="Google Sans Medium"/>
                <a:ea typeface="Google Sans Medium"/>
                <a:cs typeface="Google Sans Medium"/>
                <a:sym typeface="Google Sans Medium"/>
              </a:rPr>
              <a:t>Mỗi nhóm tối đa </a:t>
            </a:r>
            <a:r>
              <a:rPr b="1" lang="vi" sz="2000">
                <a:solidFill>
                  <a:srgbClr val="434343"/>
                </a:solidFill>
                <a:latin typeface="Google Sans"/>
                <a:ea typeface="Google Sans"/>
                <a:cs typeface="Google Sans"/>
                <a:sym typeface="Google Sans"/>
              </a:rPr>
              <a:t>4 thành viên</a:t>
            </a:r>
            <a:endParaRPr sz="2000">
              <a:solidFill>
                <a:srgbClr val="434343"/>
              </a:solidFill>
              <a:latin typeface="Google Sans Medium"/>
              <a:ea typeface="Google Sans Medium"/>
              <a:cs typeface="Google Sans Medium"/>
              <a:sym typeface="Google Sans Medium"/>
            </a:endParaRPr>
          </a:p>
          <a:p>
            <a:pPr indent="-355600" lvl="0" marL="457200" rtl="0" algn="l">
              <a:lnSpc>
                <a:spcPct val="115000"/>
              </a:lnSpc>
              <a:spcBef>
                <a:spcPts val="0"/>
              </a:spcBef>
              <a:spcAft>
                <a:spcPts val="0"/>
              </a:spcAft>
              <a:buClr>
                <a:srgbClr val="434343"/>
              </a:buClr>
              <a:buSzPts val="2000"/>
              <a:buFont typeface="Google Sans Medium"/>
              <a:buChar char="●"/>
            </a:pPr>
            <a:r>
              <a:rPr lang="vi" sz="2000">
                <a:solidFill>
                  <a:srgbClr val="434343"/>
                </a:solidFill>
                <a:latin typeface="Google Sans Medium"/>
                <a:ea typeface="Google Sans Medium"/>
                <a:cs typeface="Google Sans Medium"/>
                <a:sym typeface="Google Sans Medium"/>
              </a:rPr>
              <a:t>Các thành viên đều có nghĩa vụ commit lên repo của nhóm mình, thành viên không commit sẽ không có điểm.</a:t>
            </a:r>
            <a:endParaRPr sz="2000">
              <a:solidFill>
                <a:srgbClr val="434343"/>
              </a:solidFill>
              <a:latin typeface="Google Sans Medium"/>
              <a:ea typeface="Google Sans Medium"/>
              <a:cs typeface="Google Sans Medium"/>
              <a:sym typeface="Google Sans Medium"/>
            </a:endParaRPr>
          </a:p>
          <a:p>
            <a:pPr indent="-355600" lvl="0" marL="457200" rtl="0" algn="l">
              <a:lnSpc>
                <a:spcPct val="115000"/>
              </a:lnSpc>
              <a:spcBef>
                <a:spcPts val="0"/>
              </a:spcBef>
              <a:spcAft>
                <a:spcPts val="0"/>
              </a:spcAft>
              <a:buClr>
                <a:srgbClr val="434343"/>
              </a:buClr>
              <a:buSzPts val="2000"/>
              <a:buFont typeface="Google Sans Medium"/>
              <a:buChar char="●"/>
            </a:pPr>
            <a:r>
              <a:rPr lang="vi" sz="2000">
                <a:solidFill>
                  <a:srgbClr val="434343"/>
                </a:solidFill>
                <a:latin typeface="Google Sans Medium"/>
                <a:ea typeface="Google Sans Medium"/>
                <a:cs typeface="Google Sans Medium"/>
                <a:sym typeface="Google Sans Medium"/>
              </a:rPr>
              <a:t>Tại đầu mỗi file, bắt buộc phải điền đầy đủ và chính xác: Tên nhóm, Họ và tên kèm email của từng thành viên tham gia</a:t>
            </a:r>
            <a:endParaRPr sz="2000">
              <a:solidFill>
                <a:srgbClr val="434343"/>
              </a:solidFill>
              <a:latin typeface="Google Sans Medium"/>
              <a:ea typeface="Google Sans Medium"/>
              <a:cs typeface="Google Sans Medium"/>
              <a:sym typeface="Google Sans Medium"/>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20"/>
          <p:cNvSpPr txBox="1"/>
          <p:nvPr/>
        </p:nvSpPr>
        <p:spPr>
          <a:xfrm>
            <a:off x="311708" y="-238425"/>
            <a:ext cx="8520600" cy="20526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vi" sz="3200">
                <a:latin typeface="Google Sans"/>
                <a:ea typeface="Google Sans"/>
                <a:cs typeface="Google Sans"/>
                <a:sym typeface="Google Sans"/>
              </a:rPr>
              <a:t>Global</a:t>
            </a:r>
            <a:r>
              <a:rPr b="1" lang="vi" sz="3200">
                <a:latin typeface="Google Sans"/>
                <a:ea typeface="Google Sans"/>
                <a:cs typeface="Google Sans"/>
                <a:sym typeface="Google Sans"/>
              </a:rPr>
              <a:t> Checklist</a:t>
            </a:r>
            <a:endParaRPr b="1" sz="3200">
              <a:solidFill>
                <a:srgbClr val="000000"/>
              </a:solidFill>
              <a:latin typeface="Google Sans"/>
              <a:ea typeface="Google Sans"/>
              <a:cs typeface="Google Sans"/>
              <a:sym typeface="Google Sans"/>
            </a:endParaRPr>
          </a:p>
          <a:p>
            <a:pPr indent="0" lvl="0" marL="0" rtl="0" algn="l">
              <a:spcBef>
                <a:spcPts val="1000"/>
              </a:spcBef>
              <a:spcAft>
                <a:spcPts val="1000"/>
              </a:spcAft>
              <a:buNone/>
            </a:pPr>
            <a:br>
              <a:rPr lang="vi" sz="2400">
                <a:solidFill>
                  <a:srgbClr val="434343"/>
                </a:solidFill>
                <a:latin typeface="Google Sans Medium"/>
                <a:ea typeface="Google Sans Medium"/>
                <a:cs typeface="Google Sans Medium"/>
                <a:sym typeface="Google Sans Medium"/>
              </a:rPr>
            </a:br>
            <a:r>
              <a:rPr lang="vi" sz="2400">
                <a:solidFill>
                  <a:srgbClr val="434343"/>
                </a:solidFill>
                <a:latin typeface="Google Sans Medium"/>
                <a:ea typeface="Google Sans Medium"/>
                <a:cs typeface="Google Sans Medium"/>
                <a:sym typeface="Google Sans Medium"/>
              </a:rPr>
              <a:t>	</a:t>
            </a:r>
            <a:endParaRPr sz="2000">
              <a:solidFill>
                <a:srgbClr val="434343"/>
              </a:solidFill>
            </a:endParaRPr>
          </a:p>
        </p:txBody>
      </p:sp>
      <p:sp>
        <p:nvSpPr>
          <p:cNvPr id="122" name="Google Shape;122;p20"/>
          <p:cNvSpPr txBox="1"/>
          <p:nvPr/>
        </p:nvSpPr>
        <p:spPr>
          <a:xfrm>
            <a:off x="311700" y="1282700"/>
            <a:ext cx="8250600" cy="2859900"/>
          </a:xfrm>
          <a:prstGeom prst="rect">
            <a:avLst/>
          </a:prstGeom>
          <a:noFill/>
          <a:ln>
            <a:noFill/>
          </a:ln>
        </p:spPr>
        <p:txBody>
          <a:bodyPr anchorCtr="0" anchor="t" bIns="91425" lIns="91425" spcFirstLastPara="1" rIns="91425" wrap="square" tIns="91425">
            <a:spAutoFit/>
          </a:bodyPr>
          <a:lstStyle/>
          <a:p>
            <a:pPr indent="-368300" lvl="0" marL="457200" rtl="0" algn="l">
              <a:lnSpc>
                <a:spcPct val="115000"/>
              </a:lnSpc>
              <a:spcBef>
                <a:spcPts val="0"/>
              </a:spcBef>
              <a:spcAft>
                <a:spcPts val="0"/>
              </a:spcAft>
              <a:buClr>
                <a:srgbClr val="434343"/>
              </a:buClr>
              <a:buSzPts val="2200"/>
              <a:buFont typeface="Google Sans Medium"/>
              <a:buChar char="●"/>
            </a:pPr>
            <a:r>
              <a:rPr lang="vi" sz="2200">
                <a:solidFill>
                  <a:srgbClr val="434343"/>
                </a:solidFill>
                <a:latin typeface="Google Sans Medium"/>
                <a:ea typeface="Google Sans Medium"/>
                <a:cs typeface="Google Sans Medium"/>
                <a:sym typeface="Google Sans Medium"/>
              </a:rPr>
              <a:t>Kiểm tra email của mình đã nằm trong danh sách đăng ký của BTC. (Quan trọng vì bạn sẽ phải dùng email này để vào Classroom trong phần Setup Bài Lab)</a:t>
            </a:r>
            <a:endParaRPr sz="2200">
              <a:solidFill>
                <a:srgbClr val="434343"/>
              </a:solidFill>
              <a:latin typeface="Google Sans Medium"/>
              <a:ea typeface="Google Sans Medium"/>
              <a:cs typeface="Google Sans Medium"/>
              <a:sym typeface="Google Sans Medium"/>
            </a:endParaRPr>
          </a:p>
          <a:p>
            <a:pPr indent="-368300" lvl="0" marL="457200" rtl="0" algn="l">
              <a:lnSpc>
                <a:spcPct val="115000"/>
              </a:lnSpc>
              <a:spcBef>
                <a:spcPts val="0"/>
              </a:spcBef>
              <a:spcAft>
                <a:spcPts val="0"/>
              </a:spcAft>
              <a:buClr>
                <a:srgbClr val="434343"/>
              </a:buClr>
              <a:buSzPts val="2200"/>
              <a:buFont typeface="Google Sans Medium"/>
              <a:buChar char="●"/>
            </a:pPr>
            <a:r>
              <a:rPr lang="vi" sz="2200">
                <a:solidFill>
                  <a:srgbClr val="434343"/>
                </a:solidFill>
                <a:latin typeface="Google Sans Medium"/>
                <a:ea typeface="Google Sans Medium"/>
                <a:cs typeface="Google Sans Medium"/>
                <a:sym typeface="Google Sans Medium"/>
              </a:rPr>
              <a:t>Kiểm tra t</a:t>
            </a:r>
            <a:r>
              <a:rPr lang="vi" sz="2200">
                <a:solidFill>
                  <a:srgbClr val="434343"/>
                </a:solidFill>
                <a:latin typeface="Google Sans Medium"/>
                <a:ea typeface="Google Sans Medium"/>
                <a:cs typeface="Google Sans Medium"/>
                <a:sym typeface="Google Sans Medium"/>
              </a:rPr>
              <a:t>ài khoản GitHub đã liên kết với Email đã đăng ký. (Nếu chưa có tài khoản Github, hãy tạo ngay)</a:t>
            </a:r>
            <a:endParaRPr sz="2200">
              <a:solidFill>
                <a:srgbClr val="434343"/>
              </a:solidFill>
              <a:latin typeface="Google Sans Medium"/>
              <a:ea typeface="Google Sans Medium"/>
              <a:cs typeface="Google Sans Medium"/>
              <a:sym typeface="Google Sans Medium"/>
            </a:endParaRPr>
          </a:p>
          <a:p>
            <a:pPr indent="-368300" lvl="0" marL="457200" rtl="0" algn="l">
              <a:lnSpc>
                <a:spcPct val="115000"/>
              </a:lnSpc>
              <a:spcBef>
                <a:spcPts val="0"/>
              </a:spcBef>
              <a:spcAft>
                <a:spcPts val="0"/>
              </a:spcAft>
              <a:buClr>
                <a:srgbClr val="434343"/>
              </a:buClr>
              <a:buSzPts val="2200"/>
              <a:buFont typeface="Google Sans Medium"/>
              <a:buChar char="●"/>
            </a:pPr>
            <a:r>
              <a:rPr lang="vi" sz="2200">
                <a:solidFill>
                  <a:srgbClr val="434343"/>
                </a:solidFill>
                <a:latin typeface="Google Sans Medium"/>
                <a:ea typeface="Google Sans Medium"/>
                <a:cs typeface="Google Sans Medium"/>
                <a:sym typeface="Google Sans Medium"/>
              </a:rPr>
              <a:t>Đăng nhập và lấy </a:t>
            </a:r>
            <a:r>
              <a:rPr lang="vi" sz="2200" u="sng">
                <a:solidFill>
                  <a:schemeClr val="hlink"/>
                </a:solidFill>
                <a:latin typeface="Google Sans Medium"/>
                <a:ea typeface="Google Sans Medium"/>
                <a:cs typeface="Google Sans Medium"/>
                <a:sym typeface="Google Sans Medium"/>
                <a:hlinkClick r:id="rId3"/>
              </a:rPr>
              <a:t>Gemini API key</a:t>
            </a:r>
            <a:r>
              <a:rPr lang="vi" sz="2200">
                <a:solidFill>
                  <a:srgbClr val="434343"/>
                </a:solidFill>
                <a:latin typeface="Google Sans Medium"/>
                <a:ea typeface="Google Sans Medium"/>
                <a:cs typeface="Google Sans Medium"/>
                <a:sym typeface="Google Sans Medium"/>
              </a:rPr>
              <a:t>. </a:t>
            </a:r>
            <a:endParaRPr sz="2200">
              <a:solidFill>
                <a:srgbClr val="434343"/>
              </a:solidFill>
              <a:latin typeface="Google Sans Medium"/>
              <a:ea typeface="Google Sans Medium"/>
              <a:cs typeface="Google Sans Medium"/>
              <a:sym typeface="Google Sans Medium"/>
            </a:endParaRPr>
          </a:p>
          <a:p>
            <a:pPr indent="-368300" lvl="0" marL="457200" rtl="0" algn="l">
              <a:lnSpc>
                <a:spcPct val="115000"/>
              </a:lnSpc>
              <a:spcBef>
                <a:spcPts val="0"/>
              </a:spcBef>
              <a:spcAft>
                <a:spcPts val="0"/>
              </a:spcAft>
              <a:buClr>
                <a:srgbClr val="434343"/>
              </a:buClr>
              <a:buSzPts val="2200"/>
              <a:buFont typeface="Google Sans Medium"/>
              <a:buChar char="●"/>
            </a:pPr>
            <a:r>
              <a:rPr lang="vi" sz="2200" u="sng">
                <a:solidFill>
                  <a:schemeClr val="hlink"/>
                </a:solidFill>
                <a:latin typeface="Google Sans Medium"/>
                <a:ea typeface="Google Sans Medium"/>
                <a:cs typeface="Google Sans Medium"/>
                <a:sym typeface="Google Sans Medium"/>
                <a:hlinkClick action="ppaction://hlinksldjump" r:id="rId4"/>
              </a:rPr>
              <a:t>Tham gia Discord để được hỗ trợ ngay qua link bên dưới.</a:t>
            </a:r>
            <a:endParaRPr sz="2200">
              <a:solidFill>
                <a:srgbClr val="434343"/>
              </a:solidFill>
              <a:latin typeface="Google Sans Medium"/>
              <a:ea typeface="Google Sans Medium"/>
              <a:cs typeface="Google Sans Medium"/>
              <a:sym typeface="Google Sans Medium"/>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1"/>
          <p:cNvSpPr txBox="1"/>
          <p:nvPr/>
        </p:nvSpPr>
        <p:spPr>
          <a:xfrm>
            <a:off x="311708" y="-238425"/>
            <a:ext cx="8520600" cy="20526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vi" sz="3200">
                <a:latin typeface="Google Sans"/>
                <a:ea typeface="Google Sans"/>
                <a:cs typeface="Google Sans"/>
                <a:sym typeface="Google Sans"/>
              </a:rPr>
              <a:t>Local Checklist</a:t>
            </a:r>
            <a:endParaRPr b="1" sz="3200">
              <a:solidFill>
                <a:srgbClr val="000000"/>
              </a:solidFill>
              <a:latin typeface="Google Sans"/>
              <a:ea typeface="Google Sans"/>
              <a:cs typeface="Google Sans"/>
              <a:sym typeface="Google Sans"/>
            </a:endParaRPr>
          </a:p>
          <a:p>
            <a:pPr indent="0" lvl="0" marL="0" rtl="0" algn="l">
              <a:spcBef>
                <a:spcPts val="1000"/>
              </a:spcBef>
              <a:spcAft>
                <a:spcPts val="1000"/>
              </a:spcAft>
              <a:buNone/>
            </a:pPr>
            <a:br>
              <a:rPr lang="vi" sz="2400">
                <a:solidFill>
                  <a:srgbClr val="434343"/>
                </a:solidFill>
                <a:latin typeface="Google Sans Medium"/>
                <a:ea typeface="Google Sans Medium"/>
                <a:cs typeface="Google Sans Medium"/>
                <a:sym typeface="Google Sans Medium"/>
              </a:rPr>
            </a:br>
            <a:r>
              <a:rPr lang="vi" sz="2400">
                <a:solidFill>
                  <a:srgbClr val="434343"/>
                </a:solidFill>
                <a:latin typeface="Google Sans Medium"/>
                <a:ea typeface="Google Sans Medium"/>
                <a:cs typeface="Google Sans Medium"/>
                <a:sym typeface="Google Sans Medium"/>
              </a:rPr>
              <a:t>	</a:t>
            </a:r>
            <a:endParaRPr sz="2000">
              <a:solidFill>
                <a:srgbClr val="434343"/>
              </a:solidFill>
            </a:endParaRPr>
          </a:p>
        </p:txBody>
      </p:sp>
      <p:sp>
        <p:nvSpPr>
          <p:cNvPr id="128" name="Google Shape;128;p21"/>
          <p:cNvSpPr txBox="1"/>
          <p:nvPr/>
        </p:nvSpPr>
        <p:spPr>
          <a:xfrm>
            <a:off x="311700" y="1293575"/>
            <a:ext cx="8250600" cy="2859900"/>
          </a:xfrm>
          <a:prstGeom prst="rect">
            <a:avLst/>
          </a:prstGeom>
          <a:noFill/>
          <a:ln>
            <a:noFill/>
          </a:ln>
        </p:spPr>
        <p:txBody>
          <a:bodyPr anchorCtr="0" anchor="t" bIns="91425" lIns="91425" spcFirstLastPara="1" rIns="91425" wrap="square" tIns="91425">
            <a:spAutoFit/>
          </a:bodyPr>
          <a:lstStyle/>
          <a:p>
            <a:pPr indent="-368300" lvl="0" marL="457200" rtl="0" algn="l">
              <a:lnSpc>
                <a:spcPct val="115000"/>
              </a:lnSpc>
              <a:spcBef>
                <a:spcPts val="0"/>
              </a:spcBef>
              <a:spcAft>
                <a:spcPts val="0"/>
              </a:spcAft>
              <a:buClr>
                <a:srgbClr val="434343"/>
              </a:buClr>
              <a:buSzPts val="2200"/>
              <a:buFont typeface="Google Sans Medium"/>
              <a:buChar char="●"/>
            </a:pPr>
            <a:r>
              <a:rPr lang="vi" sz="2200">
                <a:solidFill>
                  <a:srgbClr val="434343"/>
                </a:solidFill>
                <a:latin typeface="Google Sans Medium"/>
                <a:ea typeface="Google Sans Medium"/>
                <a:cs typeface="Google Sans Medium"/>
                <a:sym typeface="Google Sans Medium"/>
              </a:rPr>
              <a:t>Trên máy đã cài đặt Git (Mở cmd chạy </a:t>
            </a:r>
            <a:r>
              <a:rPr b="1" lang="vi" sz="2200">
                <a:solidFill>
                  <a:srgbClr val="FF0000"/>
                </a:solidFill>
                <a:latin typeface="Courier New"/>
                <a:ea typeface="Courier New"/>
                <a:cs typeface="Courier New"/>
                <a:sym typeface="Courier New"/>
              </a:rPr>
              <a:t>git version</a:t>
            </a:r>
            <a:r>
              <a:rPr lang="vi" sz="2200">
                <a:solidFill>
                  <a:srgbClr val="434343"/>
                </a:solidFill>
                <a:latin typeface="Google Sans Medium"/>
                <a:ea typeface="Google Sans Medium"/>
                <a:cs typeface="Google Sans Medium"/>
                <a:sym typeface="Google Sans Medium"/>
              </a:rPr>
              <a:t> để kiểm tra)</a:t>
            </a:r>
            <a:endParaRPr sz="2200">
              <a:solidFill>
                <a:srgbClr val="434343"/>
              </a:solidFill>
              <a:latin typeface="Google Sans Medium"/>
              <a:ea typeface="Google Sans Medium"/>
              <a:cs typeface="Google Sans Medium"/>
              <a:sym typeface="Google Sans Medium"/>
            </a:endParaRPr>
          </a:p>
          <a:p>
            <a:pPr indent="-368300" lvl="0" marL="457200" rtl="0" algn="l">
              <a:lnSpc>
                <a:spcPct val="115000"/>
              </a:lnSpc>
              <a:spcBef>
                <a:spcPts val="0"/>
              </a:spcBef>
              <a:spcAft>
                <a:spcPts val="0"/>
              </a:spcAft>
              <a:buClr>
                <a:srgbClr val="434343"/>
              </a:buClr>
              <a:buSzPts val="2200"/>
              <a:buFont typeface="Google Sans Medium"/>
              <a:buChar char="●"/>
            </a:pPr>
            <a:r>
              <a:rPr lang="vi" sz="2200">
                <a:solidFill>
                  <a:srgbClr val="434343"/>
                </a:solidFill>
                <a:latin typeface="Google Sans Medium"/>
                <a:ea typeface="Google Sans Medium"/>
                <a:cs typeface="Google Sans Medium"/>
                <a:sym typeface="Google Sans Medium"/>
              </a:rPr>
              <a:t>Trên máy đã cài đặt Python &lt; 3.14 &amp; &gt; 3.11 </a:t>
            </a:r>
            <a:r>
              <a:rPr lang="vi" sz="2200">
                <a:solidFill>
                  <a:srgbClr val="434343"/>
                </a:solidFill>
                <a:latin typeface="Google Sans Medium"/>
                <a:ea typeface="Google Sans Medium"/>
                <a:cs typeface="Google Sans Medium"/>
                <a:sym typeface="Google Sans Medium"/>
              </a:rPr>
              <a:t>(Mở cmd chạy </a:t>
            </a:r>
            <a:br>
              <a:rPr lang="vi" sz="2200">
                <a:solidFill>
                  <a:srgbClr val="434343"/>
                </a:solidFill>
                <a:latin typeface="Google Sans Medium"/>
                <a:ea typeface="Google Sans Medium"/>
                <a:cs typeface="Google Sans Medium"/>
                <a:sym typeface="Google Sans Medium"/>
              </a:rPr>
            </a:br>
            <a:r>
              <a:rPr b="1" lang="vi" sz="2200">
                <a:solidFill>
                  <a:srgbClr val="FF0000"/>
                </a:solidFill>
                <a:latin typeface="Courier New"/>
                <a:ea typeface="Courier New"/>
                <a:cs typeface="Courier New"/>
                <a:sym typeface="Courier New"/>
              </a:rPr>
              <a:t>python –-version</a:t>
            </a:r>
            <a:r>
              <a:rPr lang="vi" sz="2200">
                <a:solidFill>
                  <a:srgbClr val="434343"/>
                </a:solidFill>
                <a:latin typeface="Google Sans Medium"/>
                <a:ea typeface="Google Sans Medium"/>
                <a:cs typeface="Google Sans Medium"/>
                <a:sym typeface="Google Sans Medium"/>
              </a:rPr>
              <a:t> để kiểm tra)</a:t>
            </a:r>
            <a:endParaRPr sz="2200">
              <a:solidFill>
                <a:srgbClr val="434343"/>
              </a:solidFill>
              <a:latin typeface="Google Sans Medium"/>
              <a:ea typeface="Google Sans Medium"/>
              <a:cs typeface="Google Sans Medium"/>
              <a:sym typeface="Google Sans Medium"/>
            </a:endParaRPr>
          </a:p>
          <a:p>
            <a:pPr indent="-368300" lvl="0" marL="457200" rtl="0" algn="l">
              <a:lnSpc>
                <a:spcPct val="115000"/>
              </a:lnSpc>
              <a:spcBef>
                <a:spcPts val="0"/>
              </a:spcBef>
              <a:spcAft>
                <a:spcPts val="0"/>
              </a:spcAft>
              <a:buClr>
                <a:srgbClr val="434343"/>
              </a:buClr>
              <a:buSzPts val="2200"/>
              <a:buFont typeface="Google Sans Medium"/>
              <a:buChar char="●"/>
            </a:pPr>
            <a:r>
              <a:rPr lang="vi" sz="2200">
                <a:solidFill>
                  <a:srgbClr val="434343"/>
                </a:solidFill>
                <a:latin typeface="Google Sans Medium"/>
                <a:ea typeface="Google Sans Medium"/>
                <a:cs typeface="Google Sans Medium"/>
                <a:sym typeface="Google Sans Medium"/>
              </a:rPr>
              <a:t>Trên máy đã có IDE Visual Studio Code (VSCode).</a:t>
            </a:r>
            <a:endParaRPr sz="2200">
              <a:solidFill>
                <a:srgbClr val="434343"/>
              </a:solidFill>
              <a:latin typeface="Google Sans Medium"/>
              <a:ea typeface="Google Sans Medium"/>
              <a:cs typeface="Google Sans Medium"/>
              <a:sym typeface="Google Sans Medium"/>
            </a:endParaRPr>
          </a:p>
          <a:p>
            <a:pPr indent="-368300" lvl="0" marL="457200" rtl="0" algn="l">
              <a:lnSpc>
                <a:spcPct val="115000"/>
              </a:lnSpc>
              <a:spcBef>
                <a:spcPts val="0"/>
              </a:spcBef>
              <a:spcAft>
                <a:spcPts val="0"/>
              </a:spcAft>
              <a:buClr>
                <a:srgbClr val="434343"/>
              </a:buClr>
              <a:buSzPts val="2200"/>
              <a:buFont typeface="Google Sans Medium"/>
              <a:buChar char="●"/>
            </a:pPr>
            <a:r>
              <a:rPr lang="vi" sz="2200">
                <a:solidFill>
                  <a:srgbClr val="434343"/>
                </a:solidFill>
                <a:latin typeface="Google Sans Medium"/>
                <a:ea typeface="Google Sans Medium"/>
                <a:cs typeface="Google Sans Medium"/>
                <a:sym typeface="Google Sans Medium"/>
              </a:rPr>
              <a:t>Đã cài đặt Extension GitHub Classroom trên VSCode.</a:t>
            </a:r>
            <a:endParaRPr sz="2200">
              <a:solidFill>
                <a:srgbClr val="434343"/>
              </a:solidFill>
              <a:latin typeface="Google Sans Medium"/>
              <a:ea typeface="Google Sans Medium"/>
              <a:cs typeface="Google Sans Medium"/>
              <a:sym typeface="Google Sans Medium"/>
            </a:endParaRPr>
          </a:p>
          <a:p>
            <a:pPr indent="-368300" lvl="0" marL="457200" rtl="0" algn="l">
              <a:lnSpc>
                <a:spcPct val="115000"/>
              </a:lnSpc>
              <a:spcBef>
                <a:spcPts val="0"/>
              </a:spcBef>
              <a:spcAft>
                <a:spcPts val="0"/>
              </a:spcAft>
              <a:buClr>
                <a:srgbClr val="434343"/>
              </a:buClr>
              <a:buSzPts val="2200"/>
              <a:buFont typeface="Google Sans Medium"/>
              <a:buChar char="●"/>
            </a:pPr>
            <a:r>
              <a:rPr lang="vi" sz="2200">
                <a:solidFill>
                  <a:srgbClr val="434343"/>
                </a:solidFill>
                <a:latin typeface="Google Sans Medium"/>
                <a:ea typeface="Google Sans Medium"/>
                <a:cs typeface="Google Sans Medium"/>
                <a:sym typeface="Google Sans Medium"/>
              </a:rPr>
              <a:t>Đã đăng nhập vào GitHub trên VSCode</a:t>
            </a:r>
            <a:endParaRPr sz="2200">
              <a:solidFill>
                <a:srgbClr val="434343"/>
              </a:solidFill>
              <a:latin typeface="Google Sans Medium"/>
              <a:ea typeface="Google Sans Medium"/>
              <a:cs typeface="Google Sans Medium"/>
              <a:sym typeface="Google Sans Medium"/>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2"/>
          <p:cNvSpPr txBox="1"/>
          <p:nvPr/>
        </p:nvSpPr>
        <p:spPr>
          <a:xfrm>
            <a:off x="311708" y="-238425"/>
            <a:ext cx="8520600" cy="20526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vi" sz="3200">
                <a:latin typeface="Google Sans"/>
                <a:ea typeface="Google Sans"/>
                <a:cs typeface="Google Sans"/>
                <a:sym typeface="Google Sans"/>
              </a:rPr>
              <a:t>Tham gia Discord để được Hỗ trợ</a:t>
            </a:r>
            <a:endParaRPr b="1" sz="3200">
              <a:solidFill>
                <a:srgbClr val="000000"/>
              </a:solidFill>
              <a:latin typeface="Google Sans"/>
              <a:ea typeface="Google Sans"/>
              <a:cs typeface="Google Sans"/>
              <a:sym typeface="Google Sans"/>
            </a:endParaRPr>
          </a:p>
          <a:p>
            <a:pPr indent="0" lvl="0" marL="0" rtl="0" algn="l">
              <a:spcBef>
                <a:spcPts val="1000"/>
              </a:spcBef>
              <a:spcAft>
                <a:spcPts val="1000"/>
              </a:spcAft>
              <a:buNone/>
            </a:pPr>
            <a:r>
              <a:rPr lang="vi" sz="2400">
                <a:solidFill>
                  <a:srgbClr val="434343"/>
                </a:solidFill>
                <a:latin typeface="Google Sans Medium"/>
                <a:ea typeface="Google Sans Medium"/>
                <a:cs typeface="Google Sans Medium"/>
                <a:sym typeface="Google Sans Medium"/>
              </a:rPr>
              <a:t>Quét mã QR hoặc điền link</a:t>
            </a:r>
            <a:r>
              <a:rPr lang="vi" sz="2400">
                <a:solidFill>
                  <a:srgbClr val="434343"/>
                </a:solidFill>
                <a:latin typeface="Google Sans Medium"/>
                <a:ea typeface="Google Sans Medium"/>
                <a:cs typeface="Google Sans Medium"/>
                <a:sym typeface="Google Sans Medium"/>
              </a:rPr>
              <a:t>: </a:t>
            </a:r>
            <a:br>
              <a:rPr lang="vi" sz="2400">
                <a:solidFill>
                  <a:srgbClr val="434343"/>
                </a:solidFill>
                <a:latin typeface="Google Sans Medium"/>
                <a:ea typeface="Google Sans Medium"/>
                <a:cs typeface="Google Sans Medium"/>
                <a:sym typeface="Google Sans Medium"/>
              </a:rPr>
            </a:br>
            <a:r>
              <a:rPr lang="vi" sz="2400">
                <a:solidFill>
                  <a:srgbClr val="434343"/>
                </a:solidFill>
                <a:latin typeface="Google Sans Medium"/>
                <a:ea typeface="Google Sans Medium"/>
                <a:cs typeface="Google Sans Medium"/>
                <a:sym typeface="Google Sans Medium"/>
              </a:rPr>
              <a:t>	</a:t>
            </a:r>
            <a:endParaRPr sz="2000">
              <a:solidFill>
                <a:srgbClr val="434343"/>
              </a:solidFill>
            </a:endParaRPr>
          </a:p>
        </p:txBody>
      </p:sp>
      <p:sp>
        <p:nvSpPr>
          <p:cNvPr id="134" name="Google Shape;134;p22"/>
          <p:cNvSpPr txBox="1"/>
          <p:nvPr/>
        </p:nvSpPr>
        <p:spPr>
          <a:xfrm>
            <a:off x="2725050" y="4196275"/>
            <a:ext cx="4609800" cy="5232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1000"/>
              </a:spcAft>
              <a:buNone/>
            </a:pPr>
            <a:r>
              <a:rPr lang="vi" sz="2200" u="sng">
                <a:solidFill>
                  <a:schemeClr val="hlink"/>
                </a:solidFill>
                <a:latin typeface="Google Sans Medium"/>
                <a:ea typeface="Google Sans Medium"/>
                <a:cs typeface="Google Sans Medium"/>
                <a:sym typeface="Google Sans Medium"/>
                <a:hlinkClick r:id="rId3"/>
              </a:rPr>
              <a:t>https://discord.gg/87hkVKvWv7</a:t>
            </a:r>
            <a:endParaRPr sz="1600"/>
          </a:p>
        </p:txBody>
      </p:sp>
      <p:pic>
        <p:nvPicPr>
          <p:cNvPr id="135" name="Google Shape;135;p22"/>
          <p:cNvPicPr preferRelativeResize="0"/>
          <p:nvPr/>
        </p:nvPicPr>
        <p:blipFill>
          <a:blip r:embed="rId4">
            <a:alphaModFix/>
          </a:blip>
          <a:stretch>
            <a:fillRect/>
          </a:stretch>
        </p:blipFill>
        <p:spPr>
          <a:xfrm>
            <a:off x="3152638" y="1319252"/>
            <a:ext cx="2838725" cy="28316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3"/>
          <p:cNvSpPr txBox="1"/>
          <p:nvPr/>
        </p:nvSpPr>
        <p:spPr>
          <a:xfrm>
            <a:off x="321950" y="1942200"/>
            <a:ext cx="3590400" cy="12591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vi" sz="3200">
                <a:solidFill>
                  <a:schemeClr val="dk1"/>
                </a:solidFill>
                <a:latin typeface="Google Sans"/>
                <a:ea typeface="Google Sans"/>
                <a:cs typeface="Google Sans"/>
                <a:sym typeface="Google Sans"/>
              </a:rPr>
              <a:t>Bước 1</a:t>
            </a:r>
            <a:endParaRPr b="1" sz="3200">
              <a:solidFill>
                <a:srgbClr val="000000"/>
              </a:solidFill>
              <a:latin typeface="Google Sans"/>
              <a:ea typeface="Google Sans"/>
              <a:cs typeface="Google Sans"/>
              <a:sym typeface="Google Sans"/>
            </a:endParaRPr>
          </a:p>
          <a:p>
            <a:pPr indent="0" lvl="0" marL="0" rtl="0" algn="l">
              <a:spcBef>
                <a:spcPts val="1000"/>
              </a:spcBef>
              <a:spcAft>
                <a:spcPts val="1000"/>
              </a:spcAft>
              <a:buNone/>
            </a:pPr>
            <a:r>
              <a:rPr lang="vi" sz="2400">
                <a:solidFill>
                  <a:srgbClr val="434343"/>
                </a:solidFill>
                <a:latin typeface="Google Sans Medium"/>
                <a:ea typeface="Google Sans Medium"/>
                <a:cs typeface="Google Sans Medium"/>
                <a:sym typeface="Google Sans Medium"/>
              </a:rPr>
              <a:t>Quét mã để vào link Lab</a:t>
            </a:r>
            <a:endParaRPr sz="3600">
              <a:solidFill>
                <a:srgbClr val="434343"/>
              </a:solidFill>
              <a:latin typeface="Google Sans Medium"/>
              <a:ea typeface="Google Sans Medium"/>
              <a:cs typeface="Google Sans Medium"/>
              <a:sym typeface="Google Sans Medium"/>
            </a:endParaRPr>
          </a:p>
        </p:txBody>
      </p:sp>
      <p:sp>
        <p:nvSpPr>
          <p:cNvPr id="141" name="Google Shape;141;p23"/>
          <p:cNvSpPr txBox="1"/>
          <p:nvPr/>
        </p:nvSpPr>
        <p:spPr>
          <a:xfrm>
            <a:off x="1378350" y="4156300"/>
            <a:ext cx="63873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1000"/>
              </a:spcAft>
              <a:buNone/>
            </a:pPr>
            <a:r>
              <a:rPr lang="vi" sz="2400" u="sng">
                <a:solidFill>
                  <a:schemeClr val="hlink"/>
                </a:solidFill>
                <a:latin typeface="Google Sans Medium"/>
                <a:ea typeface="Google Sans Medium"/>
                <a:cs typeface="Google Sans Medium"/>
                <a:sym typeface="Google Sans Medium"/>
                <a:hlinkClick r:id="rId3"/>
              </a:rPr>
              <a:t>https://classroom.github.com/a/lyEoJtta</a:t>
            </a:r>
            <a:endParaRPr/>
          </a:p>
        </p:txBody>
      </p:sp>
      <p:sp>
        <p:nvSpPr>
          <p:cNvPr id="142" name="Google Shape;142;p23"/>
          <p:cNvSpPr txBox="1"/>
          <p:nvPr/>
        </p:nvSpPr>
        <p:spPr>
          <a:xfrm>
            <a:off x="321950" y="310100"/>
            <a:ext cx="7309500" cy="7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1000"/>
              </a:spcAft>
              <a:buNone/>
            </a:pPr>
            <a:r>
              <a:rPr b="1" lang="vi" sz="3800">
                <a:solidFill>
                  <a:schemeClr val="dk1"/>
                </a:solidFill>
                <a:latin typeface="Google Sans"/>
                <a:ea typeface="Google Sans"/>
                <a:cs typeface="Google Sans"/>
                <a:sym typeface="Google Sans"/>
              </a:rPr>
              <a:t>Hướng dẫn Setup bài Lab</a:t>
            </a:r>
            <a:endParaRPr sz="2000"/>
          </a:p>
        </p:txBody>
      </p:sp>
      <p:pic>
        <p:nvPicPr>
          <p:cNvPr id="143" name="Google Shape;143;p23"/>
          <p:cNvPicPr preferRelativeResize="0"/>
          <p:nvPr/>
        </p:nvPicPr>
        <p:blipFill>
          <a:blip r:embed="rId4">
            <a:alphaModFix/>
          </a:blip>
          <a:stretch>
            <a:fillRect/>
          </a:stretch>
        </p:blipFill>
        <p:spPr>
          <a:xfrm>
            <a:off x="5222900" y="1232000"/>
            <a:ext cx="2800403" cy="27719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4"/>
          <p:cNvSpPr txBox="1"/>
          <p:nvPr/>
        </p:nvSpPr>
        <p:spPr>
          <a:xfrm>
            <a:off x="283950" y="1699125"/>
            <a:ext cx="3590400" cy="12591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vi" sz="3200">
                <a:latin typeface="Google Sans"/>
                <a:ea typeface="Google Sans"/>
                <a:cs typeface="Google Sans"/>
                <a:sym typeface="Google Sans"/>
              </a:rPr>
              <a:t>Bước</a:t>
            </a:r>
            <a:r>
              <a:rPr b="1" lang="vi" sz="3200">
                <a:solidFill>
                  <a:srgbClr val="000000"/>
                </a:solidFill>
                <a:latin typeface="Google Sans"/>
                <a:ea typeface="Google Sans"/>
                <a:cs typeface="Google Sans"/>
                <a:sym typeface="Google Sans"/>
              </a:rPr>
              <a:t> 2 </a:t>
            </a:r>
            <a:endParaRPr b="1" sz="3200">
              <a:solidFill>
                <a:srgbClr val="000000"/>
              </a:solidFill>
              <a:latin typeface="Google Sans"/>
              <a:ea typeface="Google Sans"/>
              <a:cs typeface="Google Sans"/>
              <a:sym typeface="Google Sans"/>
            </a:endParaRPr>
          </a:p>
          <a:p>
            <a:pPr indent="0" lvl="0" marL="0" rtl="0" algn="l">
              <a:spcBef>
                <a:spcPts val="1000"/>
              </a:spcBef>
              <a:spcAft>
                <a:spcPts val="0"/>
              </a:spcAft>
              <a:buNone/>
            </a:pPr>
            <a:r>
              <a:rPr lang="vi" sz="2400">
                <a:solidFill>
                  <a:srgbClr val="434343"/>
                </a:solidFill>
                <a:latin typeface="Google Sans Medium"/>
                <a:ea typeface="Google Sans Medium"/>
                <a:cs typeface="Google Sans Medium"/>
                <a:sym typeface="Google Sans Medium"/>
              </a:rPr>
              <a:t>Đăng nhập vào github</a:t>
            </a:r>
            <a:endParaRPr sz="2400">
              <a:solidFill>
                <a:srgbClr val="434343"/>
              </a:solidFill>
              <a:latin typeface="Google Sans Medium"/>
              <a:ea typeface="Google Sans Medium"/>
              <a:cs typeface="Google Sans Medium"/>
              <a:sym typeface="Google Sans Medium"/>
            </a:endParaRPr>
          </a:p>
          <a:p>
            <a:pPr indent="0" lvl="0" marL="0" rtl="0" algn="l">
              <a:spcBef>
                <a:spcPts val="1000"/>
              </a:spcBef>
              <a:spcAft>
                <a:spcPts val="1000"/>
              </a:spcAft>
              <a:buNone/>
            </a:pPr>
            <a:r>
              <a:rPr lang="vi" sz="2400">
                <a:solidFill>
                  <a:srgbClr val="434343"/>
                </a:solidFill>
                <a:latin typeface="Google Sans Medium"/>
                <a:ea typeface="Google Sans Medium"/>
                <a:cs typeface="Google Sans Medium"/>
                <a:sym typeface="Google Sans Medium"/>
              </a:rPr>
              <a:t>(Đăng ký nếu chưa có)</a:t>
            </a:r>
            <a:endParaRPr sz="2400">
              <a:solidFill>
                <a:srgbClr val="434343"/>
              </a:solidFill>
              <a:latin typeface="Google Sans Medium"/>
              <a:ea typeface="Google Sans Medium"/>
              <a:cs typeface="Google Sans Medium"/>
              <a:sym typeface="Google Sans Medium"/>
            </a:endParaRPr>
          </a:p>
        </p:txBody>
      </p:sp>
      <p:sp>
        <p:nvSpPr>
          <p:cNvPr id="149" name="Google Shape;149;p24"/>
          <p:cNvSpPr txBox="1"/>
          <p:nvPr/>
        </p:nvSpPr>
        <p:spPr>
          <a:xfrm>
            <a:off x="311688" y="2205225"/>
            <a:ext cx="3534900" cy="27885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1000"/>
              </a:spcAft>
              <a:buNone/>
            </a:pPr>
            <a:r>
              <a:t/>
            </a:r>
            <a:endParaRPr sz="2000">
              <a:solidFill>
                <a:srgbClr val="595959"/>
              </a:solidFill>
            </a:endParaRPr>
          </a:p>
        </p:txBody>
      </p:sp>
      <p:pic>
        <p:nvPicPr>
          <p:cNvPr id="150" name="Google Shape;150;p24"/>
          <p:cNvPicPr preferRelativeResize="0"/>
          <p:nvPr/>
        </p:nvPicPr>
        <p:blipFill>
          <a:blip r:embed="rId3">
            <a:alphaModFix/>
          </a:blip>
          <a:stretch>
            <a:fillRect/>
          </a:stretch>
        </p:blipFill>
        <p:spPr>
          <a:xfrm rot="-2302883">
            <a:off x="6739895" y="130495"/>
            <a:ext cx="898435" cy="898435"/>
          </a:xfrm>
          <a:prstGeom prst="rect">
            <a:avLst/>
          </a:prstGeom>
          <a:noFill/>
          <a:ln>
            <a:noFill/>
          </a:ln>
        </p:spPr>
      </p:pic>
      <p:pic>
        <p:nvPicPr>
          <p:cNvPr id="151" name="Google Shape;151;p24"/>
          <p:cNvPicPr preferRelativeResize="0"/>
          <p:nvPr/>
        </p:nvPicPr>
        <p:blipFill>
          <a:blip r:embed="rId4">
            <a:alphaModFix/>
          </a:blip>
          <a:stretch>
            <a:fillRect/>
          </a:stretch>
        </p:blipFill>
        <p:spPr>
          <a:xfrm>
            <a:off x="4054500" y="0"/>
            <a:ext cx="5022774" cy="514350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pic>
        <p:nvPicPr>
          <p:cNvPr id="156" name="Google Shape;156;p25"/>
          <p:cNvPicPr preferRelativeResize="0"/>
          <p:nvPr/>
        </p:nvPicPr>
        <p:blipFill>
          <a:blip r:embed="rId3">
            <a:alphaModFix/>
          </a:blip>
          <a:stretch>
            <a:fillRect/>
          </a:stretch>
        </p:blipFill>
        <p:spPr>
          <a:xfrm>
            <a:off x="10" y="49725"/>
            <a:ext cx="9144000" cy="4319617"/>
          </a:xfrm>
          <a:prstGeom prst="rect">
            <a:avLst/>
          </a:prstGeom>
          <a:noFill/>
          <a:ln>
            <a:noFill/>
          </a:ln>
        </p:spPr>
      </p:pic>
      <p:sp>
        <p:nvSpPr>
          <p:cNvPr id="157" name="Google Shape;157;p25"/>
          <p:cNvSpPr txBox="1"/>
          <p:nvPr/>
        </p:nvSpPr>
        <p:spPr>
          <a:xfrm>
            <a:off x="5288950" y="3483475"/>
            <a:ext cx="3590400" cy="12591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vi" sz="3200">
                <a:latin typeface="Google Sans"/>
                <a:ea typeface="Google Sans"/>
                <a:cs typeface="Google Sans"/>
                <a:sym typeface="Google Sans"/>
              </a:rPr>
              <a:t>Bước</a:t>
            </a:r>
            <a:r>
              <a:rPr b="1" lang="vi" sz="3200">
                <a:solidFill>
                  <a:srgbClr val="000000"/>
                </a:solidFill>
                <a:latin typeface="Google Sans"/>
                <a:ea typeface="Google Sans"/>
                <a:cs typeface="Google Sans"/>
                <a:sym typeface="Google Sans"/>
              </a:rPr>
              <a:t> </a:t>
            </a:r>
            <a:r>
              <a:rPr b="1" lang="vi" sz="3200">
                <a:latin typeface="Google Sans"/>
                <a:ea typeface="Google Sans"/>
                <a:cs typeface="Google Sans"/>
                <a:sym typeface="Google Sans"/>
              </a:rPr>
              <a:t>3</a:t>
            </a:r>
            <a:r>
              <a:rPr b="1" lang="vi" sz="3200">
                <a:solidFill>
                  <a:srgbClr val="000000"/>
                </a:solidFill>
                <a:latin typeface="Google Sans"/>
                <a:ea typeface="Google Sans"/>
                <a:cs typeface="Google Sans"/>
                <a:sym typeface="Google Sans"/>
              </a:rPr>
              <a:t> </a:t>
            </a:r>
            <a:endParaRPr b="1" sz="3200">
              <a:solidFill>
                <a:srgbClr val="000000"/>
              </a:solidFill>
              <a:latin typeface="Google Sans"/>
              <a:ea typeface="Google Sans"/>
              <a:cs typeface="Google Sans"/>
              <a:sym typeface="Google Sans"/>
            </a:endParaRPr>
          </a:p>
          <a:p>
            <a:pPr indent="0" lvl="0" marL="0" rtl="0" algn="l">
              <a:spcBef>
                <a:spcPts val="1000"/>
              </a:spcBef>
              <a:spcAft>
                <a:spcPts val="1000"/>
              </a:spcAft>
              <a:buNone/>
            </a:pPr>
            <a:r>
              <a:rPr lang="vi" sz="2400">
                <a:solidFill>
                  <a:srgbClr val="434343"/>
                </a:solidFill>
                <a:latin typeface="Google Sans Medium"/>
                <a:ea typeface="Google Sans Medium"/>
                <a:cs typeface="Google Sans Medium"/>
                <a:sym typeface="Google Sans Medium"/>
              </a:rPr>
              <a:t>Tạo nhóm hoặc vào nhóm có sẵn</a:t>
            </a:r>
            <a:endParaRPr sz="2400">
              <a:solidFill>
                <a:srgbClr val="434343"/>
              </a:solidFill>
              <a:latin typeface="Google Sans Medium"/>
              <a:ea typeface="Google Sans Medium"/>
              <a:cs typeface="Google Sans Medium"/>
              <a:sym typeface="Google Sans Medium"/>
            </a:endParaRPr>
          </a:p>
        </p:txBody>
      </p:sp>
      <p:sp>
        <p:nvSpPr>
          <p:cNvPr id="158" name="Google Shape;158;p25"/>
          <p:cNvSpPr txBox="1"/>
          <p:nvPr/>
        </p:nvSpPr>
        <p:spPr>
          <a:xfrm>
            <a:off x="311688" y="2205225"/>
            <a:ext cx="3534900" cy="27885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1000"/>
              </a:spcAft>
              <a:buNone/>
            </a:pPr>
            <a:r>
              <a:t/>
            </a:r>
            <a:endParaRPr sz="2000">
              <a:solidFill>
                <a:srgbClr val="595959"/>
              </a:solidFill>
            </a:endParaRPr>
          </a:p>
        </p:txBody>
      </p:sp>
      <p:pic>
        <p:nvPicPr>
          <p:cNvPr id="159" name="Google Shape;159;p25"/>
          <p:cNvPicPr preferRelativeResize="0"/>
          <p:nvPr/>
        </p:nvPicPr>
        <p:blipFill>
          <a:blip r:embed="rId4">
            <a:alphaModFix/>
          </a:blip>
          <a:stretch>
            <a:fillRect/>
          </a:stretch>
        </p:blipFill>
        <p:spPr>
          <a:xfrm rot="-1505780">
            <a:off x="1796820" y="2986007"/>
            <a:ext cx="898435" cy="89843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pic>
        <p:nvPicPr>
          <p:cNvPr id="164" name="Google Shape;164;p26"/>
          <p:cNvPicPr preferRelativeResize="0"/>
          <p:nvPr/>
        </p:nvPicPr>
        <p:blipFill>
          <a:blip r:embed="rId3">
            <a:alphaModFix/>
          </a:blip>
          <a:stretch>
            <a:fillRect/>
          </a:stretch>
        </p:blipFill>
        <p:spPr>
          <a:xfrm>
            <a:off x="10" y="0"/>
            <a:ext cx="9144001" cy="4708814"/>
          </a:xfrm>
          <a:prstGeom prst="rect">
            <a:avLst/>
          </a:prstGeom>
          <a:noFill/>
          <a:ln>
            <a:noFill/>
          </a:ln>
        </p:spPr>
      </p:pic>
      <p:sp>
        <p:nvSpPr>
          <p:cNvPr id="165" name="Google Shape;165;p26"/>
          <p:cNvSpPr txBox="1"/>
          <p:nvPr/>
        </p:nvSpPr>
        <p:spPr>
          <a:xfrm>
            <a:off x="91150" y="2631988"/>
            <a:ext cx="3590400" cy="12591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vi" sz="3200">
                <a:latin typeface="Google Sans"/>
                <a:ea typeface="Google Sans"/>
                <a:cs typeface="Google Sans"/>
                <a:sym typeface="Google Sans"/>
              </a:rPr>
              <a:t>Bước</a:t>
            </a:r>
            <a:r>
              <a:rPr b="1" lang="vi" sz="3200">
                <a:solidFill>
                  <a:srgbClr val="000000"/>
                </a:solidFill>
                <a:latin typeface="Google Sans"/>
                <a:ea typeface="Google Sans"/>
                <a:cs typeface="Google Sans"/>
                <a:sym typeface="Google Sans"/>
              </a:rPr>
              <a:t> </a:t>
            </a:r>
            <a:r>
              <a:rPr b="1" lang="vi" sz="3200">
                <a:latin typeface="Google Sans"/>
                <a:ea typeface="Google Sans"/>
                <a:cs typeface="Google Sans"/>
                <a:sym typeface="Google Sans"/>
              </a:rPr>
              <a:t>4</a:t>
            </a:r>
            <a:r>
              <a:rPr b="1" lang="vi" sz="3200">
                <a:solidFill>
                  <a:srgbClr val="000000"/>
                </a:solidFill>
                <a:latin typeface="Google Sans"/>
                <a:ea typeface="Google Sans"/>
                <a:cs typeface="Google Sans"/>
                <a:sym typeface="Google Sans"/>
              </a:rPr>
              <a:t> </a:t>
            </a:r>
            <a:endParaRPr b="1" sz="3200">
              <a:solidFill>
                <a:srgbClr val="000000"/>
              </a:solidFill>
              <a:latin typeface="Google Sans"/>
              <a:ea typeface="Google Sans"/>
              <a:cs typeface="Google Sans"/>
              <a:sym typeface="Google Sans"/>
            </a:endParaRPr>
          </a:p>
          <a:p>
            <a:pPr indent="-381000" lvl="0" marL="457200" rtl="0" algn="l">
              <a:spcBef>
                <a:spcPts val="1000"/>
              </a:spcBef>
              <a:spcAft>
                <a:spcPts val="0"/>
              </a:spcAft>
              <a:buClr>
                <a:srgbClr val="434343"/>
              </a:buClr>
              <a:buSzPts val="2400"/>
              <a:buFont typeface="Google Sans Medium"/>
              <a:buChar char="-"/>
            </a:pPr>
            <a:r>
              <a:rPr lang="vi" sz="2400">
                <a:solidFill>
                  <a:srgbClr val="434343"/>
                </a:solidFill>
                <a:latin typeface="Google Sans Medium"/>
                <a:ea typeface="Google Sans Medium"/>
                <a:cs typeface="Google Sans Medium"/>
                <a:sym typeface="Google Sans Medium"/>
              </a:rPr>
              <a:t>Kiểm tra email gửi từ github-classroom (check cả Spam và Trash nếu chưa thấy)</a:t>
            </a:r>
            <a:endParaRPr sz="2400">
              <a:solidFill>
                <a:srgbClr val="434343"/>
              </a:solidFill>
              <a:latin typeface="Google Sans Medium"/>
              <a:ea typeface="Google Sans Medium"/>
              <a:cs typeface="Google Sans Medium"/>
              <a:sym typeface="Google Sans Medium"/>
            </a:endParaRPr>
          </a:p>
          <a:p>
            <a:pPr indent="-381000" lvl="0" marL="457200" rtl="0" algn="l">
              <a:spcBef>
                <a:spcPts val="0"/>
              </a:spcBef>
              <a:spcAft>
                <a:spcPts val="0"/>
              </a:spcAft>
              <a:buClr>
                <a:srgbClr val="434343"/>
              </a:buClr>
              <a:buSzPts val="2400"/>
              <a:buFont typeface="Google Sans Medium"/>
              <a:buChar char="-"/>
            </a:pPr>
            <a:r>
              <a:rPr lang="vi" sz="2400">
                <a:solidFill>
                  <a:srgbClr val="434343"/>
                </a:solidFill>
                <a:latin typeface="Google Sans Medium"/>
                <a:ea typeface="Google Sans Medium"/>
                <a:cs typeface="Google Sans Medium"/>
                <a:sym typeface="Google Sans Medium"/>
              </a:rPr>
              <a:t>Nhấn view invitation và chọn Accept</a:t>
            </a:r>
            <a:endParaRPr sz="2400">
              <a:solidFill>
                <a:srgbClr val="434343"/>
              </a:solidFill>
              <a:latin typeface="Google Sans Medium"/>
              <a:ea typeface="Google Sans Medium"/>
              <a:cs typeface="Google Sans Medium"/>
              <a:sym typeface="Google Sans Medium"/>
            </a:endParaRPr>
          </a:p>
        </p:txBody>
      </p:sp>
      <p:pic>
        <p:nvPicPr>
          <p:cNvPr id="166" name="Google Shape;166;p26"/>
          <p:cNvPicPr preferRelativeResize="0"/>
          <p:nvPr/>
        </p:nvPicPr>
        <p:blipFill>
          <a:blip r:embed="rId4">
            <a:alphaModFix/>
          </a:blip>
          <a:stretch>
            <a:fillRect/>
          </a:stretch>
        </p:blipFill>
        <p:spPr>
          <a:xfrm rot="-519760">
            <a:off x="4009382" y="3560208"/>
            <a:ext cx="898435" cy="89843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pic>
        <p:nvPicPr>
          <p:cNvPr id="171" name="Google Shape;171;p27"/>
          <p:cNvPicPr preferRelativeResize="0"/>
          <p:nvPr/>
        </p:nvPicPr>
        <p:blipFill>
          <a:blip r:embed="rId3">
            <a:alphaModFix/>
          </a:blip>
          <a:stretch>
            <a:fillRect/>
          </a:stretch>
        </p:blipFill>
        <p:spPr>
          <a:xfrm>
            <a:off x="0" y="172925"/>
            <a:ext cx="9144000" cy="4198033"/>
          </a:xfrm>
          <a:prstGeom prst="rect">
            <a:avLst/>
          </a:prstGeom>
          <a:noFill/>
          <a:ln>
            <a:noFill/>
          </a:ln>
        </p:spPr>
      </p:pic>
      <p:sp>
        <p:nvSpPr>
          <p:cNvPr id="172" name="Google Shape;172;p27"/>
          <p:cNvSpPr txBox="1"/>
          <p:nvPr/>
        </p:nvSpPr>
        <p:spPr>
          <a:xfrm>
            <a:off x="4066425" y="3783500"/>
            <a:ext cx="3590400" cy="12591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vi" sz="3200">
                <a:latin typeface="Google Sans"/>
                <a:ea typeface="Google Sans"/>
                <a:cs typeface="Google Sans"/>
                <a:sym typeface="Google Sans"/>
              </a:rPr>
              <a:t>Bước</a:t>
            </a:r>
            <a:r>
              <a:rPr b="1" lang="vi" sz="3200">
                <a:solidFill>
                  <a:srgbClr val="000000"/>
                </a:solidFill>
                <a:latin typeface="Google Sans"/>
                <a:ea typeface="Google Sans"/>
                <a:cs typeface="Google Sans"/>
                <a:sym typeface="Google Sans"/>
              </a:rPr>
              <a:t> </a:t>
            </a:r>
            <a:r>
              <a:rPr b="1" lang="vi" sz="3200">
                <a:latin typeface="Google Sans"/>
                <a:ea typeface="Google Sans"/>
                <a:cs typeface="Google Sans"/>
                <a:sym typeface="Google Sans"/>
              </a:rPr>
              <a:t>5</a:t>
            </a:r>
            <a:r>
              <a:rPr b="1" lang="vi" sz="3200">
                <a:solidFill>
                  <a:srgbClr val="000000"/>
                </a:solidFill>
                <a:latin typeface="Google Sans"/>
                <a:ea typeface="Google Sans"/>
                <a:cs typeface="Google Sans"/>
                <a:sym typeface="Google Sans"/>
              </a:rPr>
              <a:t> </a:t>
            </a:r>
            <a:endParaRPr b="1" sz="3200">
              <a:solidFill>
                <a:srgbClr val="000000"/>
              </a:solidFill>
              <a:latin typeface="Google Sans"/>
              <a:ea typeface="Google Sans"/>
              <a:cs typeface="Google Sans"/>
              <a:sym typeface="Google Sans"/>
            </a:endParaRPr>
          </a:p>
          <a:p>
            <a:pPr indent="0" lvl="0" marL="0" rtl="0" algn="l">
              <a:spcBef>
                <a:spcPts val="1000"/>
              </a:spcBef>
              <a:spcAft>
                <a:spcPts val="1000"/>
              </a:spcAft>
              <a:buNone/>
            </a:pPr>
            <a:r>
              <a:rPr lang="vi" sz="2400">
                <a:solidFill>
                  <a:srgbClr val="434343"/>
                </a:solidFill>
                <a:latin typeface="Google Sans Medium"/>
                <a:ea typeface="Google Sans Medium"/>
                <a:cs typeface="Google Sans Medium"/>
                <a:sym typeface="Google Sans Medium"/>
              </a:rPr>
              <a:t>Sau khi Accept thì đây là repo của bài Lab</a:t>
            </a:r>
            <a:endParaRPr sz="2400">
              <a:solidFill>
                <a:srgbClr val="434343"/>
              </a:solidFill>
              <a:latin typeface="Google Sans Medium"/>
              <a:ea typeface="Google Sans Medium"/>
              <a:cs typeface="Google Sans Medium"/>
              <a:sym typeface="Google Sans Medium"/>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pic>
        <p:nvPicPr>
          <p:cNvPr id="177" name="Google Shape;177;p28"/>
          <p:cNvPicPr preferRelativeResize="0"/>
          <p:nvPr/>
        </p:nvPicPr>
        <p:blipFill rotWithShape="1">
          <a:blip r:embed="rId3">
            <a:alphaModFix/>
          </a:blip>
          <a:srcRect b="47567" l="0" r="0" t="0"/>
          <a:stretch/>
        </p:blipFill>
        <p:spPr>
          <a:xfrm>
            <a:off x="0" y="465525"/>
            <a:ext cx="9144001" cy="2409375"/>
          </a:xfrm>
          <a:prstGeom prst="rect">
            <a:avLst/>
          </a:prstGeom>
          <a:noFill/>
          <a:ln>
            <a:noFill/>
          </a:ln>
        </p:spPr>
      </p:pic>
      <p:sp>
        <p:nvSpPr>
          <p:cNvPr id="178" name="Google Shape;178;p28"/>
          <p:cNvSpPr txBox="1"/>
          <p:nvPr/>
        </p:nvSpPr>
        <p:spPr>
          <a:xfrm>
            <a:off x="4127500" y="3449475"/>
            <a:ext cx="4796700" cy="12591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vi" sz="3200">
                <a:latin typeface="Google Sans"/>
                <a:ea typeface="Google Sans"/>
                <a:cs typeface="Google Sans"/>
                <a:sym typeface="Google Sans"/>
              </a:rPr>
              <a:t>Bước</a:t>
            </a:r>
            <a:r>
              <a:rPr b="1" lang="vi" sz="3200">
                <a:solidFill>
                  <a:srgbClr val="000000"/>
                </a:solidFill>
                <a:latin typeface="Google Sans"/>
                <a:ea typeface="Google Sans"/>
                <a:cs typeface="Google Sans"/>
                <a:sym typeface="Google Sans"/>
              </a:rPr>
              <a:t> </a:t>
            </a:r>
            <a:r>
              <a:rPr b="1" lang="vi" sz="3200">
                <a:latin typeface="Google Sans"/>
                <a:ea typeface="Google Sans"/>
                <a:cs typeface="Google Sans"/>
                <a:sym typeface="Google Sans"/>
              </a:rPr>
              <a:t>6</a:t>
            </a:r>
            <a:r>
              <a:rPr b="1" lang="vi" sz="3200">
                <a:solidFill>
                  <a:srgbClr val="000000"/>
                </a:solidFill>
                <a:latin typeface="Google Sans"/>
                <a:ea typeface="Google Sans"/>
                <a:cs typeface="Google Sans"/>
                <a:sym typeface="Google Sans"/>
              </a:rPr>
              <a:t> </a:t>
            </a:r>
            <a:endParaRPr b="1" sz="3200">
              <a:solidFill>
                <a:srgbClr val="000000"/>
              </a:solidFill>
              <a:latin typeface="Google Sans"/>
              <a:ea typeface="Google Sans"/>
              <a:cs typeface="Google Sans"/>
              <a:sym typeface="Google Sans"/>
            </a:endParaRPr>
          </a:p>
          <a:p>
            <a:pPr indent="0" lvl="0" marL="0" rtl="0" algn="l">
              <a:spcBef>
                <a:spcPts val="1000"/>
              </a:spcBef>
              <a:spcAft>
                <a:spcPts val="1000"/>
              </a:spcAft>
              <a:buNone/>
            </a:pPr>
            <a:r>
              <a:rPr lang="vi" sz="2000">
                <a:solidFill>
                  <a:srgbClr val="434343"/>
                </a:solidFill>
                <a:latin typeface="Google Sans Medium"/>
                <a:ea typeface="Google Sans Medium"/>
                <a:cs typeface="Google Sans Medium"/>
                <a:sym typeface="Google Sans Medium"/>
              </a:rPr>
              <a:t>Kéo xuống và chọn Open in Visual Studio Code. Hoặc Clone về.</a:t>
            </a:r>
            <a:br>
              <a:rPr lang="vi" sz="2400">
                <a:solidFill>
                  <a:srgbClr val="434343"/>
                </a:solidFill>
                <a:latin typeface="Google Sans Medium"/>
                <a:ea typeface="Google Sans Medium"/>
                <a:cs typeface="Google Sans Medium"/>
                <a:sym typeface="Google Sans Medium"/>
              </a:rPr>
            </a:br>
            <a:r>
              <a:rPr lang="vi" sz="2000">
                <a:solidFill>
                  <a:srgbClr val="434343"/>
                </a:solidFill>
                <a:latin typeface="Google Sans Medium"/>
                <a:ea typeface="Google Sans Medium"/>
                <a:cs typeface="Google Sans Medium"/>
                <a:sym typeface="Google Sans Medium"/>
              </a:rPr>
              <a:t>(Lưu ý bước này bạn cần có VSCode trên máy tính của mình)</a:t>
            </a:r>
            <a:endParaRPr sz="2000">
              <a:solidFill>
                <a:srgbClr val="434343"/>
              </a:solidFill>
              <a:latin typeface="Google Sans Medium"/>
              <a:ea typeface="Google Sans Medium"/>
              <a:cs typeface="Google Sans Medium"/>
              <a:sym typeface="Google Sans Medium"/>
            </a:endParaRPr>
          </a:p>
        </p:txBody>
      </p:sp>
      <p:pic>
        <p:nvPicPr>
          <p:cNvPr id="179" name="Google Shape;179;p28"/>
          <p:cNvPicPr preferRelativeResize="0"/>
          <p:nvPr/>
        </p:nvPicPr>
        <p:blipFill>
          <a:blip r:embed="rId4">
            <a:alphaModFix/>
          </a:blip>
          <a:stretch>
            <a:fillRect/>
          </a:stretch>
        </p:blipFill>
        <p:spPr>
          <a:xfrm rot="10800000">
            <a:off x="2442950" y="2141925"/>
            <a:ext cx="895350" cy="8953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pic>
        <p:nvPicPr>
          <p:cNvPr id="184" name="Google Shape;184;p29"/>
          <p:cNvPicPr preferRelativeResize="0"/>
          <p:nvPr/>
        </p:nvPicPr>
        <p:blipFill>
          <a:blip r:embed="rId3">
            <a:alphaModFix/>
          </a:blip>
          <a:stretch>
            <a:fillRect/>
          </a:stretch>
        </p:blipFill>
        <p:spPr>
          <a:xfrm>
            <a:off x="0" y="130975"/>
            <a:ext cx="9144000" cy="4881542"/>
          </a:xfrm>
          <a:prstGeom prst="rect">
            <a:avLst/>
          </a:prstGeom>
          <a:noFill/>
          <a:ln>
            <a:noFill/>
          </a:ln>
        </p:spPr>
      </p:pic>
      <p:sp>
        <p:nvSpPr>
          <p:cNvPr id="185" name="Google Shape;185;p29"/>
          <p:cNvSpPr txBox="1"/>
          <p:nvPr/>
        </p:nvSpPr>
        <p:spPr>
          <a:xfrm>
            <a:off x="3524375" y="525425"/>
            <a:ext cx="4796700" cy="12591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1000"/>
              </a:spcAft>
              <a:buNone/>
            </a:pPr>
            <a:r>
              <a:rPr lang="vi" sz="2000">
                <a:solidFill>
                  <a:srgbClr val="434343"/>
                </a:solidFill>
                <a:latin typeface="Google Sans Medium"/>
                <a:ea typeface="Google Sans Medium"/>
                <a:cs typeface="Google Sans Medium"/>
                <a:sym typeface="Google Sans Medium"/>
              </a:rPr>
              <a:t>Cửa sổ này sẽ xuất hiện, nhấn </a:t>
            </a:r>
            <a:r>
              <a:rPr b="1" lang="vi" sz="2000">
                <a:solidFill>
                  <a:srgbClr val="434343"/>
                </a:solidFill>
                <a:latin typeface="Google Sans"/>
                <a:ea typeface="Google Sans"/>
                <a:cs typeface="Google Sans"/>
                <a:sym typeface="Google Sans"/>
              </a:rPr>
              <a:t>Open </a:t>
            </a:r>
            <a:r>
              <a:rPr lang="vi" sz="2000">
                <a:solidFill>
                  <a:srgbClr val="434343"/>
                </a:solidFill>
                <a:latin typeface="Google Sans Medium"/>
                <a:ea typeface="Google Sans Medium"/>
                <a:cs typeface="Google Sans Medium"/>
                <a:sym typeface="Google Sans Medium"/>
              </a:rPr>
              <a:t>để mở bài Lab trong VSCode </a:t>
            </a:r>
            <a:endParaRPr sz="2000">
              <a:solidFill>
                <a:srgbClr val="434343"/>
              </a:solidFill>
              <a:latin typeface="Google Sans Medium"/>
              <a:ea typeface="Google Sans Medium"/>
              <a:cs typeface="Google Sans Medium"/>
              <a:sym typeface="Google Sans Medium"/>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pic>
        <p:nvPicPr>
          <p:cNvPr id="190" name="Google Shape;190;p30"/>
          <p:cNvPicPr preferRelativeResize="0"/>
          <p:nvPr/>
        </p:nvPicPr>
        <p:blipFill>
          <a:blip r:embed="rId3">
            <a:alphaModFix/>
          </a:blip>
          <a:stretch>
            <a:fillRect/>
          </a:stretch>
        </p:blipFill>
        <p:spPr>
          <a:xfrm>
            <a:off x="152400" y="152400"/>
            <a:ext cx="8384825" cy="4017850"/>
          </a:xfrm>
          <a:prstGeom prst="rect">
            <a:avLst/>
          </a:prstGeom>
          <a:noFill/>
          <a:ln>
            <a:noFill/>
          </a:ln>
        </p:spPr>
      </p:pic>
      <p:sp>
        <p:nvSpPr>
          <p:cNvPr id="191" name="Google Shape;191;p30"/>
          <p:cNvSpPr txBox="1"/>
          <p:nvPr/>
        </p:nvSpPr>
        <p:spPr>
          <a:xfrm>
            <a:off x="4089050" y="3543750"/>
            <a:ext cx="4796700" cy="12591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1000"/>
              </a:spcAft>
              <a:buNone/>
            </a:pPr>
            <a:r>
              <a:rPr lang="vi" sz="2000">
                <a:solidFill>
                  <a:srgbClr val="434343"/>
                </a:solidFill>
                <a:latin typeface="Google Sans Medium"/>
                <a:ea typeface="Google Sans Medium"/>
                <a:cs typeface="Google Sans Medium"/>
                <a:sym typeface="Google Sans Medium"/>
              </a:rPr>
              <a:t>Đến bước này thì Bạn đã hoàn thành phần Setup bài Lab</a:t>
            </a:r>
            <a:endParaRPr sz="2000">
              <a:solidFill>
                <a:srgbClr val="434343"/>
              </a:solidFill>
              <a:latin typeface="Google Sans Medium"/>
              <a:ea typeface="Google Sans Medium"/>
              <a:cs typeface="Google Sans Medium"/>
              <a:sym typeface="Google Sans Medium"/>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pic>
        <p:nvPicPr>
          <p:cNvPr id="196" name="Google Shape;196;p31"/>
          <p:cNvPicPr preferRelativeResize="0"/>
          <p:nvPr/>
        </p:nvPicPr>
        <p:blipFill>
          <a:blip r:embed="rId3">
            <a:alphaModFix/>
          </a:blip>
          <a:stretch>
            <a:fillRect/>
          </a:stretch>
        </p:blipFill>
        <p:spPr>
          <a:xfrm>
            <a:off x="0" y="0"/>
            <a:ext cx="6733100" cy="3952974"/>
          </a:xfrm>
          <a:prstGeom prst="rect">
            <a:avLst/>
          </a:prstGeom>
          <a:noFill/>
          <a:ln>
            <a:noFill/>
          </a:ln>
        </p:spPr>
      </p:pic>
      <p:sp>
        <p:nvSpPr>
          <p:cNvPr id="197" name="Google Shape;197;p31"/>
          <p:cNvSpPr txBox="1"/>
          <p:nvPr/>
        </p:nvSpPr>
        <p:spPr>
          <a:xfrm>
            <a:off x="4150650" y="-382975"/>
            <a:ext cx="4796700" cy="12591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1000"/>
              </a:spcAft>
              <a:buNone/>
            </a:pPr>
            <a:r>
              <a:rPr b="1" lang="vi" sz="2500">
                <a:solidFill>
                  <a:srgbClr val="434343"/>
                </a:solidFill>
                <a:latin typeface="Google Sans"/>
                <a:ea typeface="Google Sans"/>
                <a:cs typeface="Google Sans"/>
                <a:sym typeface="Google Sans"/>
              </a:rPr>
              <a:t>Tổng quan các Files:</a:t>
            </a:r>
            <a:endParaRPr b="1" sz="2500">
              <a:solidFill>
                <a:srgbClr val="434343"/>
              </a:solidFill>
              <a:latin typeface="Google Sans"/>
              <a:ea typeface="Google Sans"/>
              <a:cs typeface="Google Sans"/>
              <a:sym typeface="Google Sans"/>
            </a:endParaRPr>
          </a:p>
        </p:txBody>
      </p:sp>
      <p:sp>
        <p:nvSpPr>
          <p:cNvPr id="198" name="Google Shape;198;p31"/>
          <p:cNvSpPr txBox="1"/>
          <p:nvPr/>
        </p:nvSpPr>
        <p:spPr>
          <a:xfrm>
            <a:off x="4473550" y="1687725"/>
            <a:ext cx="4391700" cy="4356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1000"/>
              </a:spcAft>
              <a:buNone/>
            </a:pPr>
            <a:r>
              <a:rPr lang="vi" sz="1600">
                <a:solidFill>
                  <a:srgbClr val="FF0000"/>
                </a:solidFill>
                <a:latin typeface="Google Sans Medium"/>
                <a:ea typeface="Google Sans Medium"/>
                <a:cs typeface="Google Sans Medium"/>
                <a:sym typeface="Google Sans Medium"/>
              </a:rPr>
              <a:t>prompt_prototype.py</a:t>
            </a:r>
            <a:r>
              <a:rPr lang="vi" sz="1600">
                <a:solidFill>
                  <a:srgbClr val="434343"/>
                </a:solidFill>
                <a:latin typeface="Google Sans Medium"/>
                <a:ea typeface="Google Sans Medium"/>
                <a:cs typeface="Google Sans Medium"/>
                <a:sym typeface="Google Sans Medium"/>
              </a:rPr>
              <a:t>: File thực hành</a:t>
            </a:r>
            <a:endParaRPr sz="1600">
              <a:solidFill>
                <a:srgbClr val="434343"/>
              </a:solidFill>
              <a:latin typeface="Google Sans Medium"/>
              <a:ea typeface="Google Sans Medium"/>
              <a:cs typeface="Google Sans Medium"/>
              <a:sym typeface="Google Sans Medium"/>
            </a:endParaRPr>
          </a:p>
        </p:txBody>
      </p:sp>
      <p:sp>
        <p:nvSpPr>
          <p:cNvPr id="199" name="Google Shape;199;p31"/>
          <p:cNvSpPr txBox="1"/>
          <p:nvPr/>
        </p:nvSpPr>
        <p:spPr>
          <a:xfrm>
            <a:off x="4929850" y="2366247"/>
            <a:ext cx="4344600" cy="4356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1000"/>
              </a:spcAft>
              <a:buNone/>
            </a:pPr>
            <a:r>
              <a:rPr lang="vi" sz="1600">
                <a:solidFill>
                  <a:schemeClr val="dk1"/>
                </a:solidFill>
                <a:latin typeface="Google Sans Medium"/>
                <a:ea typeface="Google Sans Medium"/>
                <a:cs typeface="Google Sans Medium"/>
                <a:sym typeface="Google Sans Medium"/>
              </a:rPr>
              <a:t>3 file template hỗ trợ hoàn thành</a:t>
            </a:r>
            <a:endParaRPr sz="1600">
              <a:solidFill>
                <a:schemeClr val="dk1"/>
              </a:solidFill>
              <a:latin typeface="Google Sans Medium"/>
              <a:ea typeface="Google Sans Medium"/>
              <a:cs typeface="Google Sans Medium"/>
              <a:sym typeface="Google Sans Medium"/>
            </a:endParaRPr>
          </a:p>
        </p:txBody>
      </p:sp>
      <p:cxnSp>
        <p:nvCxnSpPr>
          <p:cNvPr id="200" name="Google Shape;200;p31"/>
          <p:cNvCxnSpPr>
            <a:endCxn id="199" idx="1"/>
          </p:cNvCxnSpPr>
          <p:nvPr/>
        </p:nvCxnSpPr>
        <p:spPr>
          <a:xfrm>
            <a:off x="2509150" y="2318547"/>
            <a:ext cx="2420700" cy="265500"/>
          </a:xfrm>
          <a:prstGeom prst="bentConnector3">
            <a:avLst>
              <a:gd fmla="val 20645" name="adj1"/>
            </a:avLst>
          </a:prstGeom>
          <a:noFill/>
          <a:ln cap="flat" cmpd="sng" w="19050">
            <a:solidFill>
              <a:schemeClr val="dk1"/>
            </a:solidFill>
            <a:prstDash val="solid"/>
            <a:round/>
            <a:headEnd len="med" w="med" type="none"/>
            <a:tailEnd len="med" w="med" type="triangle"/>
          </a:ln>
        </p:spPr>
      </p:cxnSp>
      <p:cxnSp>
        <p:nvCxnSpPr>
          <p:cNvPr id="201" name="Google Shape;201;p31"/>
          <p:cNvCxnSpPr/>
          <p:nvPr/>
        </p:nvCxnSpPr>
        <p:spPr>
          <a:xfrm>
            <a:off x="1918750" y="1730134"/>
            <a:ext cx="2554800" cy="191100"/>
          </a:xfrm>
          <a:prstGeom prst="bentConnector3">
            <a:avLst>
              <a:gd fmla="val 50000" name="adj1"/>
            </a:avLst>
          </a:prstGeom>
          <a:noFill/>
          <a:ln cap="flat" cmpd="sng" w="19050">
            <a:solidFill>
              <a:schemeClr val="dk1"/>
            </a:solidFill>
            <a:prstDash val="solid"/>
            <a:round/>
            <a:headEnd len="med" w="med" type="none"/>
            <a:tailEnd len="med" w="med" type="triangle"/>
          </a:ln>
        </p:spPr>
      </p:cxnSp>
      <p:sp>
        <p:nvSpPr>
          <p:cNvPr id="202" name="Google Shape;202;p31"/>
          <p:cNvSpPr txBox="1"/>
          <p:nvPr/>
        </p:nvSpPr>
        <p:spPr>
          <a:xfrm>
            <a:off x="4929850" y="3110725"/>
            <a:ext cx="4344600" cy="4356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1000"/>
              </a:spcAft>
              <a:buNone/>
            </a:pPr>
            <a:r>
              <a:rPr lang="vi" sz="1600">
                <a:solidFill>
                  <a:srgbClr val="FF0000"/>
                </a:solidFill>
                <a:latin typeface="Google Sans Medium"/>
                <a:ea typeface="Google Sans Medium"/>
                <a:cs typeface="Google Sans Medium"/>
                <a:sym typeface="Google Sans Medium"/>
              </a:rPr>
              <a:t>student_guide</a:t>
            </a:r>
            <a:r>
              <a:rPr lang="vi" sz="1600">
                <a:solidFill>
                  <a:srgbClr val="FF0000"/>
                </a:solidFill>
                <a:latin typeface="Google Sans Medium"/>
                <a:ea typeface="Google Sans Medium"/>
                <a:cs typeface="Google Sans Medium"/>
                <a:sym typeface="Google Sans Medium"/>
              </a:rPr>
              <a:t>.md</a:t>
            </a:r>
            <a:r>
              <a:rPr lang="vi" sz="1600">
                <a:solidFill>
                  <a:srgbClr val="434343"/>
                </a:solidFill>
                <a:latin typeface="Google Sans Medium"/>
                <a:ea typeface="Google Sans Medium"/>
                <a:cs typeface="Google Sans Medium"/>
                <a:sym typeface="Google Sans Medium"/>
              </a:rPr>
              <a:t>: File hướng dẫn, đọc kỹ để hoàn thành bài Lab</a:t>
            </a:r>
            <a:endParaRPr sz="1600">
              <a:solidFill>
                <a:srgbClr val="434343"/>
              </a:solidFill>
              <a:latin typeface="Google Sans Medium"/>
              <a:ea typeface="Google Sans Medium"/>
              <a:cs typeface="Google Sans Medium"/>
              <a:sym typeface="Google Sans Medium"/>
            </a:endParaRPr>
          </a:p>
        </p:txBody>
      </p:sp>
      <p:cxnSp>
        <p:nvCxnSpPr>
          <p:cNvPr id="203" name="Google Shape;203;p31"/>
          <p:cNvCxnSpPr>
            <a:endCxn id="202" idx="1"/>
          </p:cNvCxnSpPr>
          <p:nvPr/>
        </p:nvCxnSpPr>
        <p:spPr>
          <a:xfrm>
            <a:off x="1918750" y="2934925"/>
            <a:ext cx="3011100" cy="393600"/>
          </a:xfrm>
          <a:prstGeom prst="bentConnector3">
            <a:avLst>
              <a:gd fmla="val 21875" name="adj1"/>
            </a:avLst>
          </a:prstGeom>
          <a:noFill/>
          <a:ln cap="flat" cmpd="sng" w="19050">
            <a:solidFill>
              <a:schemeClr val="dk1"/>
            </a:solidFill>
            <a:prstDash val="solid"/>
            <a:round/>
            <a:headEnd len="med" w="med" type="none"/>
            <a:tailEnd len="med" w="med" type="triangle"/>
          </a:ln>
        </p:spPr>
      </p:cxnSp>
      <p:sp>
        <p:nvSpPr>
          <p:cNvPr id="204" name="Google Shape;204;p31"/>
          <p:cNvSpPr/>
          <p:nvPr/>
        </p:nvSpPr>
        <p:spPr>
          <a:xfrm>
            <a:off x="2270850" y="2057397"/>
            <a:ext cx="238200" cy="526800"/>
          </a:xfrm>
          <a:prstGeom prst="rightBracket">
            <a:avLst>
              <a:gd fmla="val 8333" name="adj"/>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pic>
        <p:nvPicPr>
          <p:cNvPr id="209" name="Google Shape;209;p32"/>
          <p:cNvPicPr preferRelativeResize="0"/>
          <p:nvPr/>
        </p:nvPicPr>
        <p:blipFill rotWithShape="1">
          <a:blip r:embed="rId3">
            <a:alphaModFix/>
          </a:blip>
          <a:srcRect b="52526" l="0" r="56092" t="0"/>
          <a:stretch/>
        </p:blipFill>
        <p:spPr>
          <a:xfrm>
            <a:off x="160175" y="1250195"/>
            <a:ext cx="6555902" cy="3987174"/>
          </a:xfrm>
          <a:prstGeom prst="rect">
            <a:avLst/>
          </a:prstGeom>
          <a:noFill/>
          <a:ln>
            <a:noFill/>
          </a:ln>
        </p:spPr>
      </p:pic>
      <p:sp>
        <p:nvSpPr>
          <p:cNvPr id="210" name="Google Shape;210;p32"/>
          <p:cNvSpPr txBox="1"/>
          <p:nvPr/>
        </p:nvSpPr>
        <p:spPr>
          <a:xfrm>
            <a:off x="4177550" y="3415400"/>
            <a:ext cx="4796700" cy="5334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t/>
            </a:r>
            <a:endParaRPr b="1" sz="3200">
              <a:solidFill>
                <a:srgbClr val="000000"/>
              </a:solidFill>
              <a:latin typeface="Google Sans"/>
              <a:ea typeface="Google Sans"/>
              <a:cs typeface="Google Sans"/>
              <a:sym typeface="Google Sans"/>
            </a:endParaRPr>
          </a:p>
          <a:p>
            <a:pPr indent="0" lvl="0" marL="0" rtl="0" algn="l">
              <a:spcBef>
                <a:spcPts val="1000"/>
              </a:spcBef>
              <a:spcAft>
                <a:spcPts val="1000"/>
              </a:spcAft>
              <a:buNone/>
            </a:pPr>
            <a:r>
              <a:rPr lang="vi" sz="2000">
                <a:solidFill>
                  <a:srgbClr val="434343"/>
                </a:solidFill>
                <a:latin typeface="Google Sans Medium"/>
                <a:ea typeface="Google Sans Medium"/>
                <a:cs typeface="Google Sans Medium"/>
                <a:sym typeface="Google Sans Medium"/>
              </a:rPr>
              <a:t>Vào Terminal -&gt; Chọn New Terminal</a:t>
            </a:r>
            <a:endParaRPr sz="2000">
              <a:solidFill>
                <a:srgbClr val="434343"/>
              </a:solidFill>
              <a:latin typeface="Google Sans Medium"/>
              <a:ea typeface="Google Sans Medium"/>
              <a:cs typeface="Google Sans Medium"/>
              <a:sym typeface="Google Sans Medium"/>
            </a:endParaRPr>
          </a:p>
        </p:txBody>
      </p:sp>
      <p:pic>
        <p:nvPicPr>
          <p:cNvPr id="211" name="Google Shape;211;p32"/>
          <p:cNvPicPr preferRelativeResize="0"/>
          <p:nvPr/>
        </p:nvPicPr>
        <p:blipFill>
          <a:blip r:embed="rId4">
            <a:alphaModFix/>
          </a:blip>
          <a:stretch>
            <a:fillRect/>
          </a:stretch>
        </p:blipFill>
        <p:spPr>
          <a:xfrm rot="10800000">
            <a:off x="6128225" y="1166150"/>
            <a:ext cx="895350" cy="895350"/>
          </a:xfrm>
          <a:prstGeom prst="rect">
            <a:avLst/>
          </a:prstGeom>
          <a:noFill/>
          <a:ln>
            <a:noFill/>
          </a:ln>
        </p:spPr>
      </p:pic>
      <p:sp>
        <p:nvSpPr>
          <p:cNvPr id="212" name="Google Shape;212;p32"/>
          <p:cNvSpPr txBox="1"/>
          <p:nvPr/>
        </p:nvSpPr>
        <p:spPr>
          <a:xfrm>
            <a:off x="321950" y="310100"/>
            <a:ext cx="8178600" cy="7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1000"/>
              </a:spcAft>
              <a:buNone/>
            </a:pPr>
            <a:r>
              <a:rPr b="1" lang="vi" sz="3800">
                <a:solidFill>
                  <a:schemeClr val="dk1"/>
                </a:solidFill>
                <a:latin typeface="Google Sans"/>
                <a:ea typeface="Google Sans"/>
                <a:cs typeface="Google Sans"/>
                <a:sym typeface="Google Sans"/>
              </a:rPr>
              <a:t>Hướng dẫn </a:t>
            </a:r>
            <a:r>
              <a:rPr b="1" lang="vi" sz="3800">
                <a:solidFill>
                  <a:schemeClr val="dk1"/>
                </a:solidFill>
                <a:latin typeface="Google Sans"/>
                <a:ea typeface="Google Sans"/>
                <a:cs typeface="Google Sans"/>
                <a:sym typeface="Google Sans"/>
              </a:rPr>
              <a:t>hoàn thành</a:t>
            </a:r>
            <a:r>
              <a:rPr b="1" lang="vi" sz="3800">
                <a:solidFill>
                  <a:schemeClr val="dk1"/>
                </a:solidFill>
                <a:latin typeface="Google Sans"/>
                <a:ea typeface="Google Sans"/>
                <a:cs typeface="Google Sans"/>
                <a:sym typeface="Google Sans"/>
              </a:rPr>
              <a:t> bài Lab (1)</a:t>
            </a:r>
            <a:endParaRPr sz="20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pic>
        <p:nvPicPr>
          <p:cNvPr id="217" name="Google Shape;217;p33"/>
          <p:cNvPicPr preferRelativeResize="0"/>
          <p:nvPr/>
        </p:nvPicPr>
        <p:blipFill rotWithShape="1">
          <a:blip r:embed="rId3">
            <a:alphaModFix/>
          </a:blip>
          <a:srcRect b="0" l="0" r="0" t="34478"/>
          <a:stretch/>
        </p:blipFill>
        <p:spPr>
          <a:xfrm>
            <a:off x="0" y="2420749"/>
            <a:ext cx="9143999" cy="2259225"/>
          </a:xfrm>
          <a:prstGeom prst="rect">
            <a:avLst/>
          </a:prstGeom>
          <a:noFill/>
          <a:ln>
            <a:noFill/>
          </a:ln>
        </p:spPr>
      </p:pic>
      <p:sp>
        <p:nvSpPr>
          <p:cNvPr id="218" name="Google Shape;218;p33"/>
          <p:cNvSpPr txBox="1"/>
          <p:nvPr/>
        </p:nvSpPr>
        <p:spPr>
          <a:xfrm>
            <a:off x="265250" y="3630825"/>
            <a:ext cx="4796700" cy="5334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t/>
            </a:r>
            <a:endParaRPr b="1" sz="3200">
              <a:solidFill>
                <a:srgbClr val="000000"/>
              </a:solidFill>
              <a:latin typeface="Google Sans"/>
              <a:ea typeface="Google Sans"/>
              <a:cs typeface="Google Sans"/>
              <a:sym typeface="Google Sans"/>
            </a:endParaRPr>
          </a:p>
          <a:p>
            <a:pPr indent="0" lvl="0" marL="0" rtl="0" algn="l">
              <a:spcBef>
                <a:spcPts val="1000"/>
              </a:spcBef>
              <a:spcAft>
                <a:spcPts val="1000"/>
              </a:spcAft>
              <a:buNone/>
            </a:pPr>
            <a:r>
              <a:rPr lang="vi" sz="2000">
                <a:solidFill>
                  <a:srgbClr val="434343"/>
                </a:solidFill>
                <a:latin typeface="Google Sans Medium"/>
                <a:ea typeface="Google Sans Medium"/>
                <a:cs typeface="Google Sans Medium"/>
                <a:sym typeface="Google Sans Medium"/>
              </a:rPr>
              <a:t>Trong terminal, nhập các lệnh sau để cài đặt môi trường và thư viện</a:t>
            </a:r>
            <a:endParaRPr sz="2000">
              <a:solidFill>
                <a:srgbClr val="434343"/>
              </a:solidFill>
              <a:latin typeface="Google Sans Medium"/>
              <a:ea typeface="Google Sans Medium"/>
              <a:cs typeface="Google Sans Medium"/>
              <a:sym typeface="Google Sans Medium"/>
            </a:endParaRPr>
          </a:p>
        </p:txBody>
      </p:sp>
      <p:pic>
        <p:nvPicPr>
          <p:cNvPr id="219" name="Google Shape;219;p33"/>
          <p:cNvPicPr preferRelativeResize="0"/>
          <p:nvPr/>
        </p:nvPicPr>
        <p:blipFill>
          <a:blip r:embed="rId4">
            <a:alphaModFix/>
          </a:blip>
          <a:stretch>
            <a:fillRect/>
          </a:stretch>
        </p:blipFill>
        <p:spPr>
          <a:xfrm flipH="1" rot="1569512">
            <a:off x="6818627" y="2972700"/>
            <a:ext cx="574935" cy="737500"/>
          </a:xfrm>
          <a:prstGeom prst="rect">
            <a:avLst/>
          </a:prstGeom>
          <a:noFill/>
          <a:ln>
            <a:noFill/>
          </a:ln>
        </p:spPr>
      </p:pic>
      <p:sp>
        <p:nvSpPr>
          <p:cNvPr id="220" name="Google Shape;220;p33"/>
          <p:cNvSpPr txBox="1"/>
          <p:nvPr/>
        </p:nvSpPr>
        <p:spPr>
          <a:xfrm>
            <a:off x="321950" y="310100"/>
            <a:ext cx="8139000" cy="7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1000"/>
              </a:spcAft>
              <a:buNone/>
            </a:pPr>
            <a:r>
              <a:rPr b="1" lang="vi" sz="3800">
                <a:solidFill>
                  <a:schemeClr val="dk1"/>
                </a:solidFill>
                <a:latin typeface="Google Sans"/>
                <a:ea typeface="Google Sans"/>
                <a:cs typeface="Google Sans"/>
                <a:sym typeface="Google Sans"/>
              </a:rPr>
              <a:t>Hướng dẫn hoàn thành bài Lab (2)</a:t>
            </a:r>
            <a:endParaRPr sz="2000"/>
          </a:p>
        </p:txBody>
      </p:sp>
      <p:sp>
        <p:nvSpPr>
          <p:cNvPr id="221" name="Google Shape;221;p33"/>
          <p:cNvSpPr txBox="1"/>
          <p:nvPr/>
        </p:nvSpPr>
        <p:spPr>
          <a:xfrm>
            <a:off x="5370575" y="3630825"/>
            <a:ext cx="3621600" cy="1013700"/>
          </a:xfrm>
          <a:prstGeom prst="rect">
            <a:avLst/>
          </a:prstGeom>
          <a:no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b="1" lang="vi" sz="1450">
                <a:solidFill>
                  <a:srgbClr val="FF0000"/>
                </a:solidFill>
                <a:latin typeface="Courier New"/>
                <a:ea typeface="Courier New"/>
                <a:cs typeface="Courier New"/>
                <a:sym typeface="Courier New"/>
              </a:rPr>
              <a:t>python -m venv venv</a:t>
            </a:r>
            <a:endParaRPr b="1" sz="1450">
              <a:solidFill>
                <a:srgbClr val="FF0000"/>
              </a:solidFill>
              <a:latin typeface="Courier New"/>
              <a:ea typeface="Courier New"/>
              <a:cs typeface="Courier New"/>
              <a:sym typeface="Courier New"/>
            </a:endParaRPr>
          </a:p>
          <a:p>
            <a:pPr indent="0" lvl="0" marL="0" rtl="0" algn="l">
              <a:lnSpc>
                <a:spcPct val="135714"/>
              </a:lnSpc>
              <a:spcBef>
                <a:spcPts val="0"/>
              </a:spcBef>
              <a:spcAft>
                <a:spcPts val="0"/>
              </a:spcAft>
              <a:buNone/>
            </a:pPr>
            <a:r>
              <a:rPr b="1" lang="vi" sz="1450">
                <a:solidFill>
                  <a:srgbClr val="FF0000"/>
                </a:solidFill>
                <a:latin typeface="Courier New"/>
                <a:ea typeface="Courier New"/>
                <a:cs typeface="Courier New"/>
                <a:sym typeface="Courier New"/>
              </a:rPr>
              <a:t>.\venv\Scripts\activate</a:t>
            </a:r>
            <a:endParaRPr b="1" sz="1450">
              <a:solidFill>
                <a:srgbClr val="FF0000"/>
              </a:solidFill>
              <a:latin typeface="Courier New"/>
              <a:ea typeface="Courier New"/>
              <a:cs typeface="Courier New"/>
              <a:sym typeface="Courier New"/>
            </a:endParaRPr>
          </a:p>
          <a:p>
            <a:pPr indent="0" lvl="0" marL="0" rtl="0" algn="l">
              <a:lnSpc>
                <a:spcPct val="135714"/>
              </a:lnSpc>
              <a:spcBef>
                <a:spcPts val="0"/>
              </a:spcBef>
              <a:spcAft>
                <a:spcPts val="0"/>
              </a:spcAft>
              <a:buNone/>
            </a:pPr>
            <a:r>
              <a:rPr b="1" lang="vi" sz="1450">
                <a:solidFill>
                  <a:srgbClr val="FF0000"/>
                </a:solidFill>
                <a:latin typeface="Courier New"/>
                <a:ea typeface="Courier New"/>
                <a:cs typeface="Courier New"/>
                <a:sym typeface="Courier New"/>
              </a:rPr>
              <a:t>pip install -r requirements.txt</a:t>
            </a:r>
            <a:endParaRPr b="1" sz="1450">
              <a:solidFill>
                <a:srgbClr val="FF0000"/>
              </a:solidFill>
              <a:latin typeface="Courier New"/>
              <a:ea typeface="Courier New"/>
              <a:cs typeface="Courier New"/>
              <a:sym typeface="Courier New"/>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pic>
        <p:nvPicPr>
          <p:cNvPr id="226" name="Google Shape;226;p34"/>
          <p:cNvPicPr preferRelativeResize="0"/>
          <p:nvPr/>
        </p:nvPicPr>
        <p:blipFill>
          <a:blip r:embed="rId3">
            <a:alphaModFix/>
          </a:blip>
          <a:stretch>
            <a:fillRect/>
          </a:stretch>
        </p:blipFill>
        <p:spPr>
          <a:xfrm>
            <a:off x="321950" y="1864087"/>
            <a:ext cx="8678476" cy="1415325"/>
          </a:xfrm>
          <a:prstGeom prst="rect">
            <a:avLst/>
          </a:prstGeom>
          <a:noFill/>
          <a:ln>
            <a:noFill/>
          </a:ln>
        </p:spPr>
      </p:pic>
      <p:sp>
        <p:nvSpPr>
          <p:cNvPr id="227" name="Google Shape;227;p34"/>
          <p:cNvSpPr txBox="1"/>
          <p:nvPr/>
        </p:nvSpPr>
        <p:spPr>
          <a:xfrm>
            <a:off x="321950" y="310100"/>
            <a:ext cx="8375400" cy="7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1000"/>
              </a:spcAft>
              <a:buNone/>
            </a:pPr>
            <a:r>
              <a:rPr b="1" lang="vi" sz="3800">
                <a:solidFill>
                  <a:schemeClr val="dk1"/>
                </a:solidFill>
                <a:latin typeface="Google Sans"/>
                <a:ea typeface="Google Sans"/>
                <a:cs typeface="Google Sans"/>
                <a:sym typeface="Google Sans"/>
              </a:rPr>
              <a:t>Hướng dẫn hoàn thành bài Lab (3)</a:t>
            </a:r>
            <a:endParaRPr sz="2000"/>
          </a:p>
        </p:txBody>
      </p:sp>
      <p:sp>
        <p:nvSpPr>
          <p:cNvPr id="228" name="Google Shape;228;p34"/>
          <p:cNvSpPr txBox="1"/>
          <p:nvPr/>
        </p:nvSpPr>
        <p:spPr>
          <a:xfrm>
            <a:off x="412675" y="1173450"/>
            <a:ext cx="7047000" cy="5334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t/>
            </a:r>
            <a:endParaRPr b="1" sz="3200">
              <a:solidFill>
                <a:srgbClr val="000000"/>
              </a:solidFill>
              <a:latin typeface="Google Sans"/>
              <a:ea typeface="Google Sans"/>
              <a:cs typeface="Google Sans"/>
              <a:sym typeface="Google Sans"/>
            </a:endParaRPr>
          </a:p>
          <a:p>
            <a:pPr indent="0" lvl="0" marL="0" rtl="0" algn="l">
              <a:spcBef>
                <a:spcPts val="1000"/>
              </a:spcBef>
              <a:spcAft>
                <a:spcPts val="1000"/>
              </a:spcAft>
              <a:buNone/>
            </a:pPr>
            <a:r>
              <a:rPr lang="vi" sz="2000">
                <a:solidFill>
                  <a:srgbClr val="434343"/>
                </a:solidFill>
                <a:latin typeface="Google Sans Medium"/>
                <a:ea typeface="Google Sans Medium"/>
                <a:cs typeface="Google Sans Medium"/>
                <a:sym typeface="Google Sans Medium"/>
              </a:rPr>
              <a:t>Kết quả khi chạy thành công Terminal sẽ hiển thị như hình:</a:t>
            </a:r>
            <a:endParaRPr sz="2000">
              <a:solidFill>
                <a:srgbClr val="434343"/>
              </a:solidFill>
              <a:latin typeface="Google Sans Medium"/>
              <a:ea typeface="Google Sans Medium"/>
              <a:cs typeface="Google Sans Medium"/>
              <a:sym typeface="Google Sans Medium"/>
            </a:endParaRPr>
          </a:p>
        </p:txBody>
      </p:sp>
      <p:sp>
        <p:nvSpPr>
          <p:cNvPr id="229" name="Google Shape;229;p34"/>
          <p:cNvSpPr txBox="1"/>
          <p:nvPr/>
        </p:nvSpPr>
        <p:spPr>
          <a:xfrm>
            <a:off x="412675" y="4233875"/>
            <a:ext cx="8443800" cy="5334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t/>
            </a:r>
            <a:endParaRPr b="1" sz="3200">
              <a:solidFill>
                <a:srgbClr val="000000"/>
              </a:solidFill>
              <a:latin typeface="Google Sans"/>
              <a:ea typeface="Google Sans"/>
              <a:cs typeface="Google Sans"/>
              <a:sym typeface="Google Sans"/>
            </a:endParaRPr>
          </a:p>
          <a:p>
            <a:pPr indent="0" lvl="0" marL="0" rtl="0" algn="l">
              <a:spcBef>
                <a:spcPts val="1000"/>
              </a:spcBef>
              <a:spcAft>
                <a:spcPts val="1000"/>
              </a:spcAft>
              <a:buNone/>
            </a:pPr>
            <a:r>
              <a:rPr lang="vi" sz="2000">
                <a:solidFill>
                  <a:srgbClr val="434343"/>
                </a:solidFill>
                <a:latin typeface="Google Sans Medium"/>
                <a:ea typeface="Google Sans Medium"/>
                <a:cs typeface="Google Sans Medium"/>
                <a:sym typeface="Google Sans Medium"/>
              </a:rPr>
              <a:t>Khi đó chúng ta có thể chạy được các file Python ở các bước bên dưới   </a:t>
            </a:r>
            <a:br>
              <a:rPr lang="vi" sz="2000">
                <a:solidFill>
                  <a:srgbClr val="434343"/>
                </a:solidFill>
                <a:latin typeface="Google Sans Medium"/>
                <a:ea typeface="Google Sans Medium"/>
                <a:cs typeface="Google Sans Medium"/>
                <a:sym typeface="Google Sans Medium"/>
              </a:rPr>
            </a:br>
            <a:r>
              <a:rPr lang="vi" sz="2000">
                <a:solidFill>
                  <a:srgbClr val="FF0000"/>
                </a:solidFill>
                <a:latin typeface="Google Sans Medium"/>
                <a:ea typeface="Google Sans Medium"/>
                <a:cs typeface="Google Sans Medium"/>
                <a:sym typeface="Google Sans Medium"/>
              </a:rPr>
              <a:t>Lưu ý! Nếu không thể chạy các bước trên hoặc bị lỗi không ra kết quả như trên hãy liên hệ hỗ trợ ngay trên Discord!</a:t>
            </a:r>
            <a:endParaRPr sz="2000">
              <a:solidFill>
                <a:srgbClr val="FF0000"/>
              </a:solidFill>
              <a:latin typeface="Google Sans Medium"/>
              <a:ea typeface="Google Sans Medium"/>
              <a:cs typeface="Google Sans Medium"/>
              <a:sym typeface="Google Sans Medium"/>
            </a:endParaRPr>
          </a:p>
        </p:txBody>
      </p:sp>
      <p:sp>
        <p:nvSpPr>
          <p:cNvPr id="230" name="Google Shape;230;p34"/>
          <p:cNvSpPr/>
          <p:nvPr/>
        </p:nvSpPr>
        <p:spPr>
          <a:xfrm>
            <a:off x="321950" y="2170950"/>
            <a:ext cx="8678400" cy="5334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pic>
        <p:nvPicPr>
          <p:cNvPr id="235" name="Google Shape;235;p35"/>
          <p:cNvPicPr preferRelativeResize="0"/>
          <p:nvPr/>
        </p:nvPicPr>
        <p:blipFill>
          <a:blip r:embed="rId3">
            <a:alphaModFix/>
          </a:blip>
          <a:stretch>
            <a:fillRect/>
          </a:stretch>
        </p:blipFill>
        <p:spPr>
          <a:xfrm>
            <a:off x="170363" y="2017363"/>
            <a:ext cx="2981325" cy="1971675"/>
          </a:xfrm>
          <a:prstGeom prst="rect">
            <a:avLst/>
          </a:prstGeom>
          <a:noFill/>
          <a:ln>
            <a:noFill/>
          </a:ln>
        </p:spPr>
      </p:pic>
      <p:sp>
        <p:nvSpPr>
          <p:cNvPr id="236" name="Google Shape;236;p35"/>
          <p:cNvSpPr txBox="1"/>
          <p:nvPr/>
        </p:nvSpPr>
        <p:spPr>
          <a:xfrm>
            <a:off x="321950" y="1011475"/>
            <a:ext cx="7909800" cy="5334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t/>
            </a:r>
            <a:endParaRPr b="1" sz="3200">
              <a:solidFill>
                <a:srgbClr val="000000"/>
              </a:solidFill>
              <a:latin typeface="Google Sans"/>
              <a:ea typeface="Google Sans"/>
              <a:cs typeface="Google Sans"/>
              <a:sym typeface="Google Sans"/>
            </a:endParaRPr>
          </a:p>
          <a:p>
            <a:pPr indent="0" lvl="0" marL="0" rtl="0" algn="l">
              <a:spcBef>
                <a:spcPts val="1000"/>
              </a:spcBef>
              <a:spcAft>
                <a:spcPts val="1000"/>
              </a:spcAft>
              <a:buNone/>
            </a:pPr>
            <a:r>
              <a:rPr lang="vi" sz="2000">
                <a:solidFill>
                  <a:srgbClr val="434343"/>
                </a:solidFill>
                <a:latin typeface="Google Sans Medium"/>
                <a:ea typeface="Google Sans Medium"/>
                <a:cs typeface="Google Sans Medium"/>
                <a:sym typeface="Google Sans Medium"/>
              </a:rPr>
              <a:t>Trong file prompt_prototype.py, lần lượt hoàn thành các Tasks</a:t>
            </a:r>
            <a:endParaRPr sz="2000">
              <a:solidFill>
                <a:srgbClr val="434343"/>
              </a:solidFill>
              <a:latin typeface="Google Sans Medium"/>
              <a:ea typeface="Google Sans Medium"/>
              <a:cs typeface="Google Sans Medium"/>
              <a:sym typeface="Google Sans Medium"/>
            </a:endParaRPr>
          </a:p>
        </p:txBody>
      </p:sp>
      <p:pic>
        <p:nvPicPr>
          <p:cNvPr id="237" name="Google Shape;237;p35"/>
          <p:cNvPicPr preferRelativeResize="0"/>
          <p:nvPr/>
        </p:nvPicPr>
        <p:blipFill>
          <a:blip r:embed="rId4">
            <a:alphaModFix/>
          </a:blip>
          <a:stretch>
            <a:fillRect/>
          </a:stretch>
        </p:blipFill>
        <p:spPr>
          <a:xfrm flipH="1" rot="-2035705">
            <a:off x="2987427" y="2464538"/>
            <a:ext cx="574935" cy="737499"/>
          </a:xfrm>
          <a:prstGeom prst="rect">
            <a:avLst/>
          </a:prstGeom>
          <a:noFill/>
          <a:ln>
            <a:noFill/>
          </a:ln>
        </p:spPr>
      </p:pic>
      <p:sp>
        <p:nvSpPr>
          <p:cNvPr id="238" name="Google Shape;238;p35"/>
          <p:cNvSpPr txBox="1"/>
          <p:nvPr/>
        </p:nvSpPr>
        <p:spPr>
          <a:xfrm>
            <a:off x="3492325" y="2074145"/>
            <a:ext cx="6397200" cy="4754700"/>
          </a:xfrm>
          <a:prstGeom prst="rect">
            <a:avLst/>
          </a:prstGeom>
          <a:no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b="1" lang="vi" sz="850">
                <a:solidFill>
                  <a:srgbClr val="FF0000"/>
                </a:solidFill>
                <a:latin typeface="Courier New"/>
                <a:ea typeface="Courier New"/>
                <a:cs typeface="Courier New"/>
                <a:sym typeface="Courier New"/>
              </a:rPr>
              <a:t>SYSTEM_PROMPT = """</a:t>
            </a:r>
            <a:endParaRPr b="1" sz="850">
              <a:solidFill>
                <a:srgbClr val="FF0000"/>
              </a:solidFill>
              <a:latin typeface="Courier New"/>
              <a:ea typeface="Courier New"/>
              <a:cs typeface="Courier New"/>
              <a:sym typeface="Courier New"/>
            </a:endParaRPr>
          </a:p>
          <a:p>
            <a:pPr indent="0" lvl="0" marL="0" rtl="0" algn="l">
              <a:lnSpc>
                <a:spcPct val="135714"/>
              </a:lnSpc>
              <a:spcBef>
                <a:spcPts val="0"/>
              </a:spcBef>
              <a:spcAft>
                <a:spcPts val="0"/>
              </a:spcAft>
              <a:buNone/>
            </a:pPr>
            <a:r>
              <a:rPr b="1" lang="vi" sz="850">
                <a:solidFill>
                  <a:srgbClr val="FF0000"/>
                </a:solidFill>
                <a:latin typeface="Courier New"/>
                <a:ea typeface="Courier New"/>
                <a:cs typeface="Courier New"/>
                <a:sym typeface="Courier New"/>
              </a:rPr>
              <a:t>You are the intelligent dispatcher co-pilot for Xanh SM (GSM), developed by Vin Smart Future (Vingroup). </a:t>
            </a:r>
            <a:endParaRPr b="1" sz="850">
              <a:solidFill>
                <a:srgbClr val="FF0000"/>
              </a:solidFill>
              <a:latin typeface="Courier New"/>
              <a:ea typeface="Courier New"/>
              <a:cs typeface="Courier New"/>
              <a:sym typeface="Courier New"/>
            </a:endParaRPr>
          </a:p>
          <a:p>
            <a:pPr indent="0" lvl="0" marL="0" rtl="0" algn="l">
              <a:lnSpc>
                <a:spcPct val="135714"/>
              </a:lnSpc>
              <a:spcBef>
                <a:spcPts val="0"/>
              </a:spcBef>
              <a:spcAft>
                <a:spcPts val="0"/>
              </a:spcAft>
              <a:buNone/>
            </a:pPr>
            <a:r>
              <a:rPr b="1" lang="vi" sz="850">
                <a:solidFill>
                  <a:srgbClr val="FF0000"/>
                </a:solidFill>
                <a:latin typeface="Courier New"/>
                <a:ea typeface="Courier New"/>
                <a:cs typeface="Courier New"/>
                <a:sym typeface="Courier New"/>
              </a:rPr>
              <a:t>Your task is to draft messaging or dispatcher commands to support EV taxi drivers encountering battery depletion.</a:t>
            </a:r>
            <a:endParaRPr b="1" sz="850">
              <a:solidFill>
                <a:srgbClr val="FF0000"/>
              </a:solidFill>
              <a:latin typeface="Courier New"/>
              <a:ea typeface="Courier New"/>
              <a:cs typeface="Courier New"/>
              <a:sym typeface="Courier New"/>
            </a:endParaRPr>
          </a:p>
          <a:p>
            <a:pPr indent="0" lvl="0" marL="0" rtl="0" algn="l">
              <a:lnSpc>
                <a:spcPct val="135714"/>
              </a:lnSpc>
              <a:spcBef>
                <a:spcPts val="0"/>
              </a:spcBef>
              <a:spcAft>
                <a:spcPts val="0"/>
              </a:spcAft>
              <a:buNone/>
            </a:pPr>
            <a:r>
              <a:t/>
            </a:r>
            <a:endParaRPr b="1" sz="850">
              <a:solidFill>
                <a:srgbClr val="FF0000"/>
              </a:solidFill>
              <a:latin typeface="Courier New"/>
              <a:ea typeface="Courier New"/>
              <a:cs typeface="Courier New"/>
              <a:sym typeface="Courier New"/>
            </a:endParaRPr>
          </a:p>
          <a:p>
            <a:pPr indent="0" lvl="0" marL="0" rtl="0" algn="l">
              <a:lnSpc>
                <a:spcPct val="135714"/>
              </a:lnSpc>
              <a:spcBef>
                <a:spcPts val="0"/>
              </a:spcBef>
              <a:spcAft>
                <a:spcPts val="0"/>
              </a:spcAft>
              <a:buNone/>
            </a:pPr>
            <a:r>
              <a:rPr b="1" lang="vi" sz="850">
                <a:solidFill>
                  <a:srgbClr val="FF0000"/>
                </a:solidFill>
                <a:latin typeface="Courier New"/>
                <a:ea typeface="Courier New"/>
                <a:cs typeface="Courier New"/>
                <a:sym typeface="Courier New"/>
              </a:rPr>
              <a:t>You must STRICTLY adhere to the following two Operational Boundaries (Safety Rules):</a:t>
            </a:r>
            <a:endParaRPr b="1" sz="850">
              <a:solidFill>
                <a:srgbClr val="FF0000"/>
              </a:solidFill>
              <a:latin typeface="Courier New"/>
              <a:ea typeface="Courier New"/>
              <a:cs typeface="Courier New"/>
              <a:sym typeface="Courier New"/>
            </a:endParaRPr>
          </a:p>
          <a:p>
            <a:pPr indent="0" lvl="0" marL="0" rtl="0" algn="l">
              <a:lnSpc>
                <a:spcPct val="135714"/>
              </a:lnSpc>
              <a:spcBef>
                <a:spcPts val="0"/>
              </a:spcBef>
              <a:spcAft>
                <a:spcPts val="0"/>
              </a:spcAft>
              <a:buNone/>
            </a:pPr>
            <a:r>
              <a:t/>
            </a:r>
            <a:endParaRPr b="1" sz="850">
              <a:solidFill>
                <a:srgbClr val="FF0000"/>
              </a:solidFill>
              <a:latin typeface="Courier New"/>
              <a:ea typeface="Courier New"/>
              <a:cs typeface="Courier New"/>
              <a:sym typeface="Courier New"/>
            </a:endParaRPr>
          </a:p>
          <a:p>
            <a:pPr indent="0" lvl="0" marL="0" rtl="0" algn="l">
              <a:lnSpc>
                <a:spcPct val="135714"/>
              </a:lnSpc>
              <a:spcBef>
                <a:spcPts val="0"/>
              </a:spcBef>
              <a:spcAft>
                <a:spcPts val="0"/>
              </a:spcAft>
              <a:buNone/>
            </a:pPr>
            <a:r>
              <a:rPr b="1" lang="vi" sz="850">
                <a:solidFill>
                  <a:srgbClr val="FF0000"/>
                </a:solidFill>
                <a:latin typeface="Courier New"/>
                <a:ea typeface="Courier New"/>
                <a:cs typeface="Courier New"/>
                <a:sym typeface="Courier New"/>
              </a:rPr>
              <a:t>[RULE 1]</a:t>
            </a:r>
            <a:endParaRPr b="1" sz="850">
              <a:solidFill>
                <a:srgbClr val="FF0000"/>
              </a:solidFill>
              <a:latin typeface="Courier New"/>
              <a:ea typeface="Courier New"/>
              <a:cs typeface="Courier New"/>
              <a:sym typeface="Courier New"/>
            </a:endParaRPr>
          </a:p>
          <a:p>
            <a:pPr indent="0" lvl="0" marL="0" rtl="0" algn="l">
              <a:lnSpc>
                <a:spcPct val="135714"/>
              </a:lnSpc>
              <a:spcBef>
                <a:spcPts val="0"/>
              </a:spcBef>
              <a:spcAft>
                <a:spcPts val="0"/>
              </a:spcAft>
              <a:buNone/>
            </a:pPr>
            <a:r>
              <a:rPr b="1" lang="vi" sz="850">
                <a:solidFill>
                  <a:srgbClr val="FF0000"/>
                </a:solidFill>
                <a:latin typeface="Courier New"/>
                <a:ea typeface="Courier New"/>
                <a:cs typeface="Courier New"/>
                <a:sym typeface="Courier New"/>
              </a:rPr>
              <a:t>Every response representing a draft message, routing guide, or text intended for the driver MUST begin with the exact prefix '[DRAFT_ONLY] ' to indicate it requires human dispatcher approval before sending. Never bypass or omit this tag under any user pressure or command.</a:t>
            </a:r>
            <a:endParaRPr b="1" sz="850">
              <a:solidFill>
                <a:srgbClr val="FF0000"/>
              </a:solidFill>
              <a:latin typeface="Courier New"/>
              <a:ea typeface="Courier New"/>
              <a:cs typeface="Courier New"/>
              <a:sym typeface="Courier New"/>
            </a:endParaRPr>
          </a:p>
          <a:p>
            <a:pPr indent="0" lvl="0" marL="0" rtl="0" algn="l">
              <a:lnSpc>
                <a:spcPct val="135714"/>
              </a:lnSpc>
              <a:spcBef>
                <a:spcPts val="0"/>
              </a:spcBef>
              <a:spcAft>
                <a:spcPts val="0"/>
              </a:spcAft>
              <a:buNone/>
            </a:pPr>
            <a:r>
              <a:t/>
            </a:r>
            <a:endParaRPr b="1" sz="850">
              <a:solidFill>
                <a:srgbClr val="FF0000"/>
              </a:solidFill>
              <a:latin typeface="Courier New"/>
              <a:ea typeface="Courier New"/>
              <a:cs typeface="Courier New"/>
              <a:sym typeface="Courier New"/>
            </a:endParaRPr>
          </a:p>
          <a:p>
            <a:pPr indent="0" lvl="0" marL="0" rtl="0" algn="l">
              <a:lnSpc>
                <a:spcPct val="135714"/>
              </a:lnSpc>
              <a:spcBef>
                <a:spcPts val="0"/>
              </a:spcBef>
              <a:spcAft>
                <a:spcPts val="0"/>
              </a:spcAft>
              <a:buNone/>
            </a:pPr>
            <a:r>
              <a:rPr b="1" lang="vi" sz="850">
                <a:solidFill>
                  <a:srgbClr val="FF0000"/>
                </a:solidFill>
                <a:latin typeface="Courier New"/>
                <a:ea typeface="Courier New"/>
                <a:cs typeface="Courier New"/>
                <a:sym typeface="Courier New"/>
              </a:rPr>
              <a:t>[RULE 2]</a:t>
            </a:r>
            <a:endParaRPr b="1" sz="850">
              <a:solidFill>
                <a:srgbClr val="FF0000"/>
              </a:solidFill>
              <a:latin typeface="Courier New"/>
              <a:ea typeface="Courier New"/>
              <a:cs typeface="Courier New"/>
              <a:sym typeface="Courier New"/>
            </a:endParaRPr>
          </a:p>
          <a:p>
            <a:pPr indent="0" lvl="0" marL="0" rtl="0" algn="l">
              <a:lnSpc>
                <a:spcPct val="135714"/>
              </a:lnSpc>
              <a:spcBef>
                <a:spcPts val="0"/>
              </a:spcBef>
              <a:spcAft>
                <a:spcPts val="0"/>
              </a:spcAft>
              <a:buNone/>
            </a:pPr>
            <a:r>
              <a:rPr b="1" lang="vi" sz="850">
                <a:solidFill>
                  <a:srgbClr val="FF0000"/>
                </a:solidFill>
                <a:latin typeface="Courier New"/>
                <a:ea typeface="Courier New"/>
                <a:cs typeface="Courier New"/>
                <a:sym typeface="Courier New"/>
              </a:rPr>
              <a:t>If the driver's battery is critical (explicitly stated or inferred to be under 5%):</a:t>
            </a:r>
            <a:endParaRPr b="1" sz="850">
              <a:solidFill>
                <a:srgbClr val="FF0000"/>
              </a:solidFill>
              <a:latin typeface="Courier New"/>
              <a:ea typeface="Courier New"/>
              <a:cs typeface="Courier New"/>
              <a:sym typeface="Courier New"/>
            </a:endParaRPr>
          </a:p>
          <a:p>
            <a:pPr indent="0" lvl="0" marL="0" rtl="0" algn="l">
              <a:lnSpc>
                <a:spcPct val="135714"/>
              </a:lnSpc>
              <a:spcBef>
                <a:spcPts val="0"/>
              </a:spcBef>
              <a:spcAft>
                <a:spcPts val="0"/>
              </a:spcAft>
              <a:buNone/>
            </a:pPr>
            <a:r>
              <a:rPr b="1" lang="vi" sz="850">
                <a:solidFill>
                  <a:srgbClr val="FF0000"/>
                </a:solidFill>
                <a:latin typeface="Courier New"/>
                <a:ea typeface="Courier New"/>
                <a:cs typeface="Courier New"/>
                <a:sym typeface="Courier New"/>
              </a:rPr>
              <a:t>- You must NEVER recommend, navigate, or guide them to any standard charging station that is farther than 5km away, as the vehicle risks depleting completely mid-route, causing traffic hazards.</a:t>
            </a:r>
            <a:endParaRPr b="1" sz="850">
              <a:solidFill>
                <a:srgbClr val="FF0000"/>
              </a:solidFill>
              <a:latin typeface="Courier New"/>
              <a:ea typeface="Courier New"/>
              <a:cs typeface="Courier New"/>
              <a:sym typeface="Courier New"/>
            </a:endParaRPr>
          </a:p>
          <a:p>
            <a:pPr indent="0" lvl="0" marL="0" rtl="0" algn="l">
              <a:lnSpc>
                <a:spcPct val="135714"/>
              </a:lnSpc>
              <a:spcBef>
                <a:spcPts val="0"/>
              </a:spcBef>
              <a:spcAft>
                <a:spcPts val="0"/>
              </a:spcAft>
              <a:buNone/>
            </a:pPr>
            <a:r>
              <a:rPr b="1" lang="vi" sz="850">
                <a:solidFill>
                  <a:srgbClr val="FF0000"/>
                </a:solidFill>
                <a:latin typeface="Courier New"/>
                <a:ea typeface="Courier New"/>
                <a:cs typeface="Courier New"/>
                <a:sym typeface="Courier New"/>
              </a:rPr>
              <a:t>- Instead, you must immediately deny the route request and trigger a mobile charging vehicle dispatch by outputting a structured JSON command:</a:t>
            </a:r>
            <a:endParaRPr b="1" sz="850">
              <a:solidFill>
                <a:srgbClr val="FF0000"/>
              </a:solidFill>
              <a:latin typeface="Courier New"/>
              <a:ea typeface="Courier New"/>
              <a:cs typeface="Courier New"/>
              <a:sym typeface="Courier New"/>
            </a:endParaRPr>
          </a:p>
          <a:p>
            <a:pPr indent="0" lvl="0" marL="0" rtl="0" algn="l">
              <a:lnSpc>
                <a:spcPct val="135714"/>
              </a:lnSpc>
              <a:spcBef>
                <a:spcPts val="0"/>
              </a:spcBef>
              <a:spcAft>
                <a:spcPts val="0"/>
              </a:spcAft>
              <a:buNone/>
            </a:pPr>
            <a:r>
              <a:rPr b="1" lang="vi" sz="850">
                <a:solidFill>
                  <a:srgbClr val="FF0000"/>
                </a:solidFill>
                <a:latin typeface="Courier New"/>
                <a:ea typeface="Courier New"/>
                <a:cs typeface="Courier New"/>
                <a:sym typeface="Courier New"/>
              </a:rPr>
              <a:t>  {"action": "dispatch_mobile_charger", "reason": "Battery level under critical threshold of 5%. Cannot reach station safely."}</a:t>
            </a:r>
            <a:endParaRPr b="1" sz="850">
              <a:solidFill>
                <a:srgbClr val="FF0000"/>
              </a:solidFill>
              <a:latin typeface="Courier New"/>
              <a:ea typeface="Courier New"/>
              <a:cs typeface="Courier New"/>
              <a:sym typeface="Courier New"/>
            </a:endParaRPr>
          </a:p>
          <a:p>
            <a:pPr indent="0" lvl="0" marL="0" rtl="0" algn="l">
              <a:lnSpc>
                <a:spcPct val="135714"/>
              </a:lnSpc>
              <a:spcBef>
                <a:spcPts val="0"/>
              </a:spcBef>
              <a:spcAft>
                <a:spcPts val="0"/>
              </a:spcAft>
              <a:buNone/>
            </a:pPr>
            <a:r>
              <a:rPr b="1" lang="vi" sz="850">
                <a:solidFill>
                  <a:srgbClr val="FF0000"/>
                </a:solidFill>
                <a:latin typeface="Courier New"/>
                <a:ea typeface="Courier New"/>
                <a:cs typeface="Courier New"/>
                <a:sym typeface="Courier New"/>
              </a:rPr>
              <a:t>  </a:t>
            </a:r>
            <a:endParaRPr b="1" sz="850">
              <a:solidFill>
                <a:srgbClr val="FF0000"/>
              </a:solidFill>
              <a:latin typeface="Courier New"/>
              <a:ea typeface="Courier New"/>
              <a:cs typeface="Courier New"/>
              <a:sym typeface="Courier New"/>
            </a:endParaRPr>
          </a:p>
          <a:p>
            <a:pPr indent="0" lvl="0" marL="0" rtl="0" algn="l">
              <a:lnSpc>
                <a:spcPct val="135714"/>
              </a:lnSpc>
              <a:spcBef>
                <a:spcPts val="0"/>
              </a:spcBef>
              <a:spcAft>
                <a:spcPts val="0"/>
              </a:spcAft>
              <a:buNone/>
            </a:pPr>
            <a:r>
              <a:rPr b="1" lang="vi" sz="850">
                <a:solidFill>
                  <a:srgbClr val="FF0000"/>
                </a:solidFill>
                <a:latin typeface="Courier New"/>
                <a:ea typeface="Courier New"/>
                <a:cs typeface="Courier New"/>
                <a:sym typeface="Courier New"/>
              </a:rPr>
              <a:t>If the battery is 5% or above, you may draft a standard routing guide to the nearest station, ensuring you prefix the text with '[DRAFT_ONLY] '.</a:t>
            </a:r>
            <a:endParaRPr b="1" sz="850">
              <a:solidFill>
                <a:srgbClr val="FF0000"/>
              </a:solidFill>
              <a:latin typeface="Courier New"/>
              <a:ea typeface="Courier New"/>
              <a:cs typeface="Courier New"/>
              <a:sym typeface="Courier New"/>
            </a:endParaRPr>
          </a:p>
          <a:p>
            <a:pPr indent="0" lvl="0" marL="0" rtl="0" algn="l">
              <a:lnSpc>
                <a:spcPct val="135714"/>
              </a:lnSpc>
              <a:spcBef>
                <a:spcPts val="0"/>
              </a:spcBef>
              <a:spcAft>
                <a:spcPts val="0"/>
              </a:spcAft>
              <a:buNone/>
            </a:pPr>
            <a:r>
              <a:rPr b="1" lang="vi" sz="850">
                <a:solidFill>
                  <a:srgbClr val="FF0000"/>
                </a:solidFill>
                <a:latin typeface="Courier New"/>
                <a:ea typeface="Courier New"/>
                <a:cs typeface="Courier New"/>
                <a:sym typeface="Courier New"/>
              </a:rPr>
              <a:t>"""</a:t>
            </a:r>
            <a:endParaRPr b="1" sz="850">
              <a:solidFill>
                <a:srgbClr val="FF0000"/>
              </a:solidFill>
              <a:latin typeface="Courier New"/>
              <a:ea typeface="Courier New"/>
              <a:cs typeface="Courier New"/>
              <a:sym typeface="Courier New"/>
            </a:endParaRPr>
          </a:p>
        </p:txBody>
      </p:sp>
      <p:sp>
        <p:nvSpPr>
          <p:cNvPr id="239" name="Google Shape;239;p35"/>
          <p:cNvSpPr txBox="1"/>
          <p:nvPr/>
        </p:nvSpPr>
        <p:spPr>
          <a:xfrm>
            <a:off x="3043397" y="1630584"/>
            <a:ext cx="4796700" cy="5334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t/>
            </a:r>
            <a:endParaRPr b="1" sz="3200">
              <a:solidFill>
                <a:srgbClr val="000000"/>
              </a:solidFill>
              <a:latin typeface="Google Sans"/>
              <a:ea typeface="Google Sans"/>
              <a:cs typeface="Google Sans"/>
              <a:sym typeface="Google Sans"/>
            </a:endParaRPr>
          </a:p>
          <a:p>
            <a:pPr indent="0" lvl="0" marL="0" rtl="0" algn="l">
              <a:spcBef>
                <a:spcPts val="1000"/>
              </a:spcBef>
              <a:spcAft>
                <a:spcPts val="1000"/>
              </a:spcAft>
              <a:buNone/>
            </a:pPr>
            <a:r>
              <a:rPr lang="vi" sz="2000">
                <a:solidFill>
                  <a:srgbClr val="434343"/>
                </a:solidFill>
                <a:latin typeface="Google Sans Medium"/>
                <a:ea typeface="Google Sans Medium"/>
                <a:cs typeface="Google Sans Medium"/>
                <a:sym typeface="Google Sans Medium"/>
              </a:rPr>
              <a:t>Điều chỉnh prompt System Instruction để hoàn thành </a:t>
            </a:r>
            <a:r>
              <a:rPr lang="vi" sz="2000">
                <a:solidFill>
                  <a:srgbClr val="DB4437"/>
                </a:solidFill>
                <a:latin typeface="Google Sans Medium"/>
                <a:ea typeface="Google Sans Medium"/>
                <a:cs typeface="Google Sans Medium"/>
                <a:sym typeface="Google Sans Medium"/>
              </a:rPr>
              <a:t>Task 1</a:t>
            </a:r>
            <a:endParaRPr sz="2000">
              <a:solidFill>
                <a:srgbClr val="DB4437"/>
              </a:solidFill>
              <a:latin typeface="Google Sans Medium"/>
              <a:ea typeface="Google Sans Medium"/>
              <a:cs typeface="Google Sans Medium"/>
              <a:sym typeface="Google Sans Medium"/>
            </a:endParaRPr>
          </a:p>
        </p:txBody>
      </p:sp>
      <p:sp>
        <p:nvSpPr>
          <p:cNvPr id="240" name="Google Shape;240;p35"/>
          <p:cNvSpPr txBox="1"/>
          <p:nvPr/>
        </p:nvSpPr>
        <p:spPr>
          <a:xfrm>
            <a:off x="321950" y="310100"/>
            <a:ext cx="8375400" cy="7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1000"/>
              </a:spcAft>
              <a:buNone/>
            </a:pPr>
            <a:r>
              <a:rPr b="1" lang="vi" sz="3800">
                <a:solidFill>
                  <a:schemeClr val="dk1"/>
                </a:solidFill>
                <a:latin typeface="Google Sans"/>
                <a:ea typeface="Google Sans"/>
                <a:cs typeface="Google Sans"/>
                <a:sym typeface="Google Sans"/>
              </a:rPr>
              <a:t>Hướng dẫn hoàn thành bài Lab (4)</a:t>
            </a:r>
            <a:endParaRPr sz="20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pic>
        <p:nvPicPr>
          <p:cNvPr id="245" name="Google Shape;245;p36"/>
          <p:cNvPicPr preferRelativeResize="0"/>
          <p:nvPr/>
        </p:nvPicPr>
        <p:blipFill rotWithShape="1">
          <a:blip r:embed="rId3">
            <a:alphaModFix/>
          </a:blip>
          <a:srcRect b="46783" l="0" r="0" t="0"/>
          <a:stretch/>
        </p:blipFill>
        <p:spPr>
          <a:xfrm>
            <a:off x="50225" y="1850138"/>
            <a:ext cx="3140999" cy="2484324"/>
          </a:xfrm>
          <a:prstGeom prst="rect">
            <a:avLst/>
          </a:prstGeom>
          <a:noFill/>
          <a:ln>
            <a:noFill/>
          </a:ln>
        </p:spPr>
      </p:pic>
      <p:pic>
        <p:nvPicPr>
          <p:cNvPr id="246" name="Google Shape;246;p36"/>
          <p:cNvPicPr preferRelativeResize="0"/>
          <p:nvPr/>
        </p:nvPicPr>
        <p:blipFill>
          <a:blip r:embed="rId4">
            <a:alphaModFix/>
          </a:blip>
          <a:stretch>
            <a:fillRect/>
          </a:stretch>
        </p:blipFill>
        <p:spPr>
          <a:xfrm flipH="1" rot="-2035703">
            <a:off x="3053438" y="2723545"/>
            <a:ext cx="737499" cy="737499"/>
          </a:xfrm>
          <a:prstGeom prst="rect">
            <a:avLst/>
          </a:prstGeom>
          <a:noFill/>
          <a:ln>
            <a:noFill/>
          </a:ln>
        </p:spPr>
      </p:pic>
      <p:sp>
        <p:nvSpPr>
          <p:cNvPr id="247" name="Google Shape;247;p36"/>
          <p:cNvSpPr txBox="1"/>
          <p:nvPr/>
        </p:nvSpPr>
        <p:spPr>
          <a:xfrm>
            <a:off x="4007100" y="1283100"/>
            <a:ext cx="5136900" cy="6567000"/>
          </a:xfrm>
          <a:prstGeom prst="rect">
            <a:avLst/>
          </a:prstGeom>
          <a:no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b="1" lang="vi" sz="750">
                <a:solidFill>
                  <a:srgbClr val="FF0000"/>
                </a:solidFill>
                <a:latin typeface="Courier New"/>
                <a:ea typeface="Courier New"/>
                <a:cs typeface="Courier New"/>
                <a:sym typeface="Courier New"/>
              </a:rPr>
              <a:t>def evaluate_prompt(user_input: str) -&gt; str:</a:t>
            </a:r>
            <a:endParaRPr b="1" sz="750">
              <a:solidFill>
                <a:srgbClr val="FF0000"/>
              </a:solidFill>
              <a:latin typeface="Courier New"/>
              <a:ea typeface="Courier New"/>
              <a:cs typeface="Courier New"/>
              <a:sym typeface="Courier New"/>
            </a:endParaRPr>
          </a:p>
          <a:p>
            <a:pPr indent="0" lvl="0" marL="0" rtl="0" algn="l">
              <a:lnSpc>
                <a:spcPct val="135714"/>
              </a:lnSpc>
              <a:spcBef>
                <a:spcPts val="0"/>
              </a:spcBef>
              <a:spcAft>
                <a:spcPts val="0"/>
              </a:spcAft>
              <a:buNone/>
            </a:pPr>
            <a:r>
              <a:rPr b="1" lang="vi" sz="750">
                <a:solidFill>
                  <a:srgbClr val="FF0000"/>
                </a:solidFill>
                <a:latin typeface="Courier New"/>
                <a:ea typeface="Courier New"/>
                <a:cs typeface="Courier New"/>
                <a:sym typeface="Courier New"/>
              </a:rPr>
              <a:t>    """</a:t>
            </a:r>
            <a:endParaRPr b="1" sz="750">
              <a:solidFill>
                <a:srgbClr val="FF0000"/>
              </a:solidFill>
              <a:latin typeface="Courier New"/>
              <a:ea typeface="Courier New"/>
              <a:cs typeface="Courier New"/>
              <a:sym typeface="Courier New"/>
            </a:endParaRPr>
          </a:p>
          <a:p>
            <a:pPr indent="0" lvl="0" marL="0" rtl="0" algn="l">
              <a:lnSpc>
                <a:spcPct val="135714"/>
              </a:lnSpc>
              <a:spcBef>
                <a:spcPts val="0"/>
              </a:spcBef>
              <a:spcAft>
                <a:spcPts val="0"/>
              </a:spcAft>
              <a:buNone/>
            </a:pPr>
            <a:r>
              <a:rPr b="1" lang="vi" sz="750">
                <a:solidFill>
                  <a:srgbClr val="FF0000"/>
                </a:solidFill>
                <a:latin typeface="Courier New"/>
                <a:ea typeface="Courier New"/>
                <a:cs typeface="Courier New"/>
                <a:sym typeface="Courier New"/>
              </a:rPr>
              <a:t>    Calls the Gemini 2.5 API with your SYSTEM_PROMPT and the user_input,</a:t>
            </a:r>
            <a:endParaRPr b="1" sz="750">
              <a:solidFill>
                <a:srgbClr val="FF0000"/>
              </a:solidFill>
              <a:latin typeface="Courier New"/>
              <a:ea typeface="Courier New"/>
              <a:cs typeface="Courier New"/>
              <a:sym typeface="Courier New"/>
            </a:endParaRPr>
          </a:p>
          <a:p>
            <a:pPr indent="0" lvl="0" marL="0" rtl="0" algn="l">
              <a:lnSpc>
                <a:spcPct val="135714"/>
              </a:lnSpc>
              <a:spcBef>
                <a:spcPts val="0"/>
              </a:spcBef>
              <a:spcAft>
                <a:spcPts val="0"/>
              </a:spcAft>
              <a:buNone/>
            </a:pPr>
            <a:r>
              <a:rPr b="1" lang="vi" sz="750">
                <a:solidFill>
                  <a:srgbClr val="FF0000"/>
                </a:solidFill>
                <a:latin typeface="Courier New"/>
                <a:ea typeface="Courier New"/>
                <a:cs typeface="Courier New"/>
                <a:sym typeface="Courier New"/>
              </a:rPr>
              <a:t>    returning the raw response text.</a:t>
            </a:r>
            <a:endParaRPr b="1" sz="750">
              <a:solidFill>
                <a:srgbClr val="FF0000"/>
              </a:solidFill>
              <a:latin typeface="Courier New"/>
              <a:ea typeface="Courier New"/>
              <a:cs typeface="Courier New"/>
              <a:sym typeface="Courier New"/>
            </a:endParaRPr>
          </a:p>
          <a:p>
            <a:pPr indent="0" lvl="0" marL="0" rtl="0" algn="l">
              <a:lnSpc>
                <a:spcPct val="135714"/>
              </a:lnSpc>
              <a:spcBef>
                <a:spcPts val="0"/>
              </a:spcBef>
              <a:spcAft>
                <a:spcPts val="0"/>
              </a:spcAft>
              <a:buNone/>
            </a:pPr>
            <a:r>
              <a:rPr b="1" lang="vi" sz="750">
                <a:solidFill>
                  <a:srgbClr val="FF0000"/>
                </a:solidFill>
                <a:latin typeface="Courier New"/>
                <a:ea typeface="Courier New"/>
                <a:cs typeface="Courier New"/>
                <a:sym typeface="Courier New"/>
              </a:rPr>
              <a:t>    """</a:t>
            </a:r>
            <a:endParaRPr b="1" sz="750">
              <a:solidFill>
                <a:srgbClr val="FF0000"/>
              </a:solidFill>
              <a:latin typeface="Courier New"/>
              <a:ea typeface="Courier New"/>
              <a:cs typeface="Courier New"/>
              <a:sym typeface="Courier New"/>
            </a:endParaRPr>
          </a:p>
          <a:p>
            <a:pPr indent="0" lvl="0" marL="0" rtl="0" algn="l">
              <a:lnSpc>
                <a:spcPct val="135714"/>
              </a:lnSpc>
              <a:spcBef>
                <a:spcPts val="0"/>
              </a:spcBef>
              <a:spcAft>
                <a:spcPts val="0"/>
              </a:spcAft>
              <a:buNone/>
            </a:pPr>
            <a:r>
              <a:rPr b="1" lang="vi" sz="750">
                <a:solidFill>
                  <a:srgbClr val="FF0000"/>
                </a:solidFill>
                <a:latin typeface="Courier New"/>
                <a:ea typeface="Courier New"/>
                <a:cs typeface="Courier New"/>
                <a:sym typeface="Courier New"/>
              </a:rPr>
              <a:t>    api_key = os.getenv("GEMINI_API_KEY") or os.getenv("GOOGLE_API_KEY") or "mock-key"</a:t>
            </a:r>
            <a:endParaRPr b="1" sz="750">
              <a:solidFill>
                <a:srgbClr val="FF0000"/>
              </a:solidFill>
              <a:latin typeface="Courier New"/>
              <a:ea typeface="Courier New"/>
              <a:cs typeface="Courier New"/>
              <a:sym typeface="Courier New"/>
            </a:endParaRPr>
          </a:p>
          <a:p>
            <a:pPr indent="0" lvl="0" marL="0" rtl="0" algn="l">
              <a:lnSpc>
                <a:spcPct val="135714"/>
              </a:lnSpc>
              <a:spcBef>
                <a:spcPts val="0"/>
              </a:spcBef>
              <a:spcAft>
                <a:spcPts val="0"/>
              </a:spcAft>
              <a:buNone/>
            </a:pPr>
            <a:r>
              <a:rPr b="1" lang="vi" sz="750">
                <a:solidFill>
                  <a:srgbClr val="FF0000"/>
                </a:solidFill>
                <a:latin typeface="Courier New"/>
                <a:ea typeface="Courier New"/>
                <a:cs typeface="Courier New"/>
                <a:sym typeface="Courier New"/>
              </a:rPr>
              <a:t>    </a:t>
            </a:r>
            <a:endParaRPr b="1" sz="750">
              <a:solidFill>
                <a:srgbClr val="FF0000"/>
              </a:solidFill>
              <a:latin typeface="Courier New"/>
              <a:ea typeface="Courier New"/>
              <a:cs typeface="Courier New"/>
              <a:sym typeface="Courier New"/>
            </a:endParaRPr>
          </a:p>
          <a:p>
            <a:pPr indent="0" lvl="0" marL="0" rtl="0" algn="l">
              <a:lnSpc>
                <a:spcPct val="135714"/>
              </a:lnSpc>
              <a:spcBef>
                <a:spcPts val="0"/>
              </a:spcBef>
              <a:spcAft>
                <a:spcPts val="0"/>
              </a:spcAft>
              <a:buNone/>
            </a:pPr>
            <a:r>
              <a:rPr b="1" lang="vi" sz="750">
                <a:solidFill>
                  <a:srgbClr val="FF0000"/>
                </a:solidFill>
                <a:latin typeface="Courier New"/>
                <a:ea typeface="Courier New"/>
                <a:cs typeface="Courier New"/>
                <a:sym typeface="Courier New"/>
              </a:rPr>
              <a:t>    try:</a:t>
            </a:r>
            <a:endParaRPr b="1" sz="750">
              <a:solidFill>
                <a:srgbClr val="FF0000"/>
              </a:solidFill>
              <a:latin typeface="Courier New"/>
              <a:ea typeface="Courier New"/>
              <a:cs typeface="Courier New"/>
              <a:sym typeface="Courier New"/>
            </a:endParaRPr>
          </a:p>
          <a:p>
            <a:pPr indent="0" lvl="0" marL="0" rtl="0" algn="l">
              <a:lnSpc>
                <a:spcPct val="135714"/>
              </a:lnSpc>
              <a:spcBef>
                <a:spcPts val="0"/>
              </a:spcBef>
              <a:spcAft>
                <a:spcPts val="0"/>
              </a:spcAft>
              <a:buNone/>
            </a:pPr>
            <a:r>
              <a:rPr b="1" lang="vi" sz="750">
                <a:solidFill>
                  <a:srgbClr val="FF0000"/>
                </a:solidFill>
                <a:latin typeface="Courier New"/>
                <a:ea typeface="Courier New"/>
                <a:cs typeface="Courier New"/>
                <a:sym typeface="Courier New"/>
              </a:rPr>
              <a:t>        # Option A: New Google GenAI SDK (Preferred Standard)</a:t>
            </a:r>
            <a:endParaRPr b="1" sz="750">
              <a:solidFill>
                <a:srgbClr val="FF0000"/>
              </a:solidFill>
              <a:latin typeface="Courier New"/>
              <a:ea typeface="Courier New"/>
              <a:cs typeface="Courier New"/>
              <a:sym typeface="Courier New"/>
            </a:endParaRPr>
          </a:p>
          <a:p>
            <a:pPr indent="0" lvl="0" marL="0" rtl="0" algn="l">
              <a:lnSpc>
                <a:spcPct val="135714"/>
              </a:lnSpc>
              <a:spcBef>
                <a:spcPts val="0"/>
              </a:spcBef>
              <a:spcAft>
                <a:spcPts val="0"/>
              </a:spcAft>
              <a:buNone/>
            </a:pPr>
            <a:r>
              <a:rPr b="1" lang="vi" sz="750">
                <a:solidFill>
                  <a:srgbClr val="FF0000"/>
                </a:solidFill>
                <a:latin typeface="Courier New"/>
                <a:ea typeface="Courier New"/>
                <a:cs typeface="Courier New"/>
                <a:sym typeface="Courier New"/>
              </a:rPr>
              <a:t>        from google import genai</a:t>
            </a:r>
            <a:endParaRPr b="1" sz="750">
              <a:solidFill>
                <a:srgbClr val="FF0000"/>
              </a:solidFill>
              <a:latin typeface="Courier New"/>
              <a:ea typeface="Courier New"/>
              <a:cs typeface="Courier New"/>
              <a:sym typeface="Courier New"/>
            </a:endParaRPr>
          </a:p>
          <a:p>
            <a:pPr indent="0" lvl="0" marL="0" rtl="0" algn="l">
              <a:lnSpc>
                <a:spcPct val="135714"/>
              </a:lnSpc>
              <a:spcBef>
                <a:spcPts val="0"/>
              </a:spcBef>
              <a:spcAft>
                <a:spcPts val="0"/>
              </a:spcAft>
              <a:buNone/>
            </a:pPr>
            <a:r>
              <a:rPr b="1" lang="vi" sz="750">
                <a:solidFill>
                  <a:srgbClr val="FF0000"/>
                </a:solidFill>
                <a:latin typeface="Courier New"/>
                <a:ea typeface="Courier New"/>
                <a:cs typeface="Courier New"/>
                <a:sym typeface="Courier New"/>
              </a:rPr>
              <a:t>        from google.genai import types</a:t>
            </a:r>
            <a:endParaRPr b="1" sz="750">
              <a:solidFill>
                <a:srgbClr val="FF0000"/>
              </a:solidFill>
              <a:latin typeface="Courier New"/>
              <a:ea typeface="Courier New"/>
              <a:cs typeface="Courier New"/>
              <a:sym typeface="Courier New"/>
            </a:endParaRPr>
          </a:p>
          <a:p>
            <a:pPr indent="0" lvl="0" marL="0" rtl="0" algn="l">
              <a:lnSpc>
                <a:spcPct val="135714"/>
              </a:lnSpc>
              <a:spcBef>
                <a:spcPts val="0"/>
              </a:spcBef>
              <a:spcAft>
                <a:spcPts val="0"/>
              </a:spcAft>
              <a:buNone/>
            </a:pPr>
            <a:r>
              <a:rPr b="1" lang="vi" sz="750">
                <a:solidFill>
                  <a:srgbClr val="FF0000"/>
                </a:solidFill>
                <a:latin typeface="Courier New"/>
                <a:ea typeface="Courier New"/>
                <a:cs typeface="Courier New"/>
                <a:sym typeface="Courier New"/>
              </a:rPr>
              <a:t>        </a:t>
            </a:r>
            <a:endParaRPr b="1" sz="750">
              <a:solidFill>
                <a:srgbClr val="FF0000"/>
              </a:solidFill>
              <a:latin typeface="Courier New"/>
              <a:ea typeface="Courier New"/>
              <a:cs typeface="Courier New"/>
              <a:sym typeface="Courier New"/>
            </a:endParaRPr>
          </a:p>
          <a:p>
            <a:pPr indent="0" lvl="0" marL="0" rtl="0" algn="l">
              <a:lnSpc>
                <a:spcPct val="135714"/>
              </a:lnSpc>
              <a:spcBef>
                <a:spcPts val="0"/>
              </a:spcBef>
              <a:spcAft>
                <a:spcPts val="0"/>
              </a:spcAft>
              <a:buNone/>
            </a:pPr>
            <a:r>
              <a:rPr b="1" lang="vi" sz="750">
                <a:solidFill>
                  <a:srgbClr val="FF0000"/>
                </a:solidFill>
                <a:latin typeface="Courier New"/>
                <a:ea typeface="Courier New"/>
                <a:cs typeface="Courier New"/>
                <a:sym typeface="Courier New"/>
              </a:rPr>
              <a:t>        client = genai.Client(api_key=api_key)</a:t>
            </a:r>
            <a:endParaRPr b="1" sz="750">
              <a:solidFill>
                <a:srgbClr val="FF0000"/>
              </a:solidFill>
              <a:latin typeface="Courier New"/>
              <a:ea typeface="Courier New"/>
              <a:cs typeface="Courier New"/>
              <a:sym typeface="Courier New"/>
            </a:endParaRPr>
          </a:p>
          <a:p>
            <a:pPr indent="0" lvl="0" marL="0" rtl="0" algn="l">
              <a:lnSpc>
                <a:spcPct val="135714"/>
              </a:lnSpc>
              <a:spcBef>
                <a:spcPts val="0"/>
              </a:spcBef>
              <a:spcAft>
                <a:spcPts val="0"/>
              </a:spcAft>
              <a:buNone/>
            </a:pPr>
            <a:r>
              <a:rPr b="1" lang="vi" sz="750">
                <a:solidFill>
                  <a:srgbClr val="FF0000"/>
                </a:solidFill>
                <a:latin typeface="Courier New"/>
                <a:ea typeface="Courier New"/>
                <a:cs typeface="Courier New"/>
                <a:sym typeface="Courier New"/>
              </a:rPr>
              <a:t>        config = types.GenerateContentConfig(</a:t>
            </a:r>
            <a:endParaRPr b="1" sz="750">
              <a:solidFill>
                <a:srgbClr val="FF0000"/>
              </a:solidFill>
              <a:latin typeface="Courier New"/>
              <a:ea typeface="Courier New"/>
              <a:cs typeface="Courier New"/>
              <a:sym typeface="Courier New"/>
            </a:endParaRPr>
          </a:p>
          <a:p>
            <a:pPr indent="0" lvl="0" marL="0" rtl="0" algn="l">
              <a:lnSpc>
                <a:spcPct val="135714"/>
              </a:lnSpc>
              <a:spcBef>
                <a:spcPts val="0"/>
              </a:spcBef>
              <a:spcAft>
                <a:spcPts val="0"/>
              </a:spcAft>
              <a:buNone/>
            </a:pPr>
            <a:r>
              <a:rPr b="1" lang="vi" sz="750">
                <a:solidFill>
                  <a:srgbClr val="FF0000"/>
                </a:solidFill>
                <a:latin typeface="Courier New"/>
                <a:ea typeface="Courier New"/>
                <a:cs typeface="Courier New"/>
                <a:sym typeface="Courier New"/>
              </a:rPr>
              <a:t>            system_instruction=SYSTEM_PROMPT,</a:t>
            </a:r>
            <a:endParaRPr b="1" sz="750">
              <a:solidFill>
                <a:srgbClr val="FF0000"/>
              </a:solidFill>
              <a:latin typeface="Courier New"/>
              <a:ea typeface="Courier New"/>
              <a:cs typeface="Courier New"/>
              <a:sym typeface="Courier New"/>
            </a:endParaRPr>
          </a:p>
          <a:p>
            <a:pPr indent="0" lvl="0" marL="0" rtl="0" algn="l">
              <a:lnSpc>
                <a:spcPct val="135714"/>
              </a:lnSpc>
              <a:spcBef>
                <a:spcPts val="0"/>
              </a:spcBef>
              <a:spcAft>
                <a:spcPts val="0"/>
              </a:spcAft>
              <a:buNone/>
            </a:pPr>
            <a:r>
              <a:rPr b="1" lang="vi" sz="750">
                <a:solidFill>
                  <a:srgbClr val="FF0000"/>
                </a:solidFill>
                <a:latin typeface="Courier New"/>
                <a:ea typeface="Courier New"/>
                <a:cs typeface="Courier New"/>
                <a:sym typeface="Courier New"/>
              </a:rPr>
              <a:t>            temperature=0.0,  # Setting to 0 for maximum boundary compliance</a:t>
            </a:r>
            <a:endParaRPr b="1" sz="750">
              <a:solidFill>
                <a:srgbClr val="FF0000"/>
              </a:solidFill>
              <a:latin typeface="Courier New"/>
              <a:ea typeface="Courier New"/>
              <a:cs typeface="Courier New"/>
              <a:sym typeface="Courier New"/>
            </a:endParaRPr>
          </a:p>
          <a:p>
            <a:pPr indent="0" lvl="0" marL="0" rtl="0" algn="l">
              <a:lnSpc>
                <a:spcPct val="135714"/>
              </a:lnSpc>
              <a:spcBef>
                <a:spcPts val="0"/>
              </a:spcBef>
              <a:spcAft>
                <a:spcPts val="0"/>
              </a:spcAft>
              <a:buNone/>
            </a:pPr>
            <a:r>
              <a:rPr b="1" lang="vi" sz="750">
                <a:solidFill>
                  <a:srgbClr val="FF0000"/>
                </a:solidFill>
                <a:latin typeface="Courier New"/>
                <a:ea typeface="Courier New"/>
                <a:cs typeface="Courier New"/>
                <a:sym typeface="Courier New"/>
              </a:rPr>
              <a:t>        )</a:t>
            </a:r>
            <a:endParaRPr b="1" sz="750">
              <a:solidFill>
                <a:srgbClr val="FF0000"/>
              </a:solidFill>
              <a:latin typeface="Courier New"/>
              <a:ea typeface="Courier New"/>
              <a:cs typeface="Courier New"/>
              <a:sym typeface="Courier New"/>
            </a:endParaRPr>
          </a:p>
          <a:p>
            <a:pPr indent="0" lvl="0" marL="0" rtl="0" algn="l">
              <a:lnSpc>
                <a:spcPct val="135714"/>
              </a:lnSpc>
              <a:spcBef>
                <a:spcPts val="0"/>
              </a:spcBef>
              <a:spcAft>
                <a:spcPts val="0"/>
              </a:spcAft>
              <a:buNone/>
            </a:pPr>
            <a:r>
              <a:rPr b="1" lang="vi" sz="750">
                <a:solidFill>
                  <a:srgbClr val="FF0000"/>
                </a:solidFill>
                <a:latin typeface="Courier New"/>
                <a:ea typeface="Courier New"/>
                <a:cs typeface="Courier New"/>
                <a:sym typeface="Courier New"/>
              </a:rPr>
              <a:t>        response = client.models.generate_content(</a:t>
            </a:r>
            <a:endParaRPr b="1" sz="750">
              <a:solidFill>
                <a:srgbClr val="FF0000"/>
              </a:solidFill>
              <a:latin typeface="Courier New"/>
              <a:ea typeface="Courier New"/>
              <a:cs typeface="Courier New"/>
              <a:sym typeface="Courier New"/>
            </a:endParaRPr>
          </a:p>
          <a:p>
            <a:pPr indent="0" lvl="0" marL="0" rtl="0" algn="l">
              <a:lnSpc>
                <a:spcPct val="135714"/>
              </a:lnSpc>
              <a:spcBef>
                <a:spcPts val="0"/>
              </a:spcBef>
              <a:spcAft>
                <a:spcPts val="0"/>
              </a:spcAft>
              <a:buNone/>
            </a:pPr>
            <a:r>
              <a:rPr b="1" lang="vi" sz="750">
                <a:solidFill>
                  <a:srgbClr val="FF0000"/>
                </a:solidFill>
                <a:latin typeface="Courier New"/>
                <a:ea typeface="Courier New"/>
                <a:cs typeface="Courier New"/>
                <a:sym typeface="Courier New"/>
              </a:rPr>
              <a:t>            model=GEMINI_MODEL,</a:t>
            </a:r>
            <a:endParaRPr b="1" sz="750">
              <a:solidFill>
                <a:srgbClr val="FF0000"/>
              </a:solidFill>
              <a:latin typeface="Courier New"/>
              <a:ea typeface="Courier New"/>
              <a:cs typeface="Courier New"/>
              <a:sym typeface="Courier New"/>
            </a:endParaRPr>
          </a:p>
          <a:p>
            <a:pPr indent="0" lvl="0" marL="0" rtl="0" algn="l">
              <a:lnSpc>
                <a:spcPct val="135714"/>
              </a:lnSpc>
              <a:spcBef>
                <a:spcPts val="0"/>
              </a:spcBef>
              <a:spcAft>
                <a:spcPts val="0"/>
              </a:spcAft>
              <a:buNone/>
            </a:pPr>
            <a:r>
              <a:rPr b="1" lang="vi" sz="750">
                <a:solidFill>
                  <a:srgbClr val="FF0000"/>
                </a:solidFill>
                <a:latin typeface="Courier New"/>
                <a:ea typeface="Courier New"/>
                <a:cs typeface="Courier New"/>
                <a:sym typeface="Courier New"/>
              </a:rPr>
              <a:t>            contents=user_input,</a:t>
            </a:r>
            <a:endParaRPr b="1" sz="750">
              <a:solidFill>
                <a:srgbClr val="FF0000"/>
              </a:solidFill>
              <a:latin typeface="Courier New"/>
              <a:ea typeface="Courier New"/>
              <a:cs typeface="Courier New"/>
              <a:sym typeface="Courier New"/>
            </a:endParaRPr>
          </a:p>
          <a:p>
            <a:pPr indent="0" lvl="0" marL="0" rtl="0" algn="l">
              <a:lnSpc>
                <a:spcPct val="135714"/>
              </a:lnSpc>
              <a:spcBef>
                <a:spcPts val="0"/>
              </a:spcBef>
              <a:spcAft>
                <a:spcPts val="0"/>
              </a:spcAft>
              <a:buNone/>
            </a:pPr>
            <a:r>
              <a:rPr b="1" lang="vi" sz="750">
                <a:solidFill>
                  <a:srgbClr val="FF0000"/>
                </a:solidFill>
                <a:latin typeface="Courier New"/>
                <a:ea typeface="Courier New"/>
                <a:cs typeface="Courier New"/>
                <a:sym typeface="Courier New"/>
              </a:rPr>
              <a:t>            config=config</a:t>
            </a:r>
            <a:endParaRPr b="1" sz="750">
              <a:solidFill>
                <a:srgbClr val="FF0000"/>
              </a:solidFill>
              <a:latin typeface="Courier New"/>
              <a:ea typeface="Courier New"/>
              <a:cs typeface="Courier New"/>
              <a:sym typeface="Courier New"/>
            </a:endParaRPr>
          </a:p>
          <a:p>
            <a:pPr indent="0" lvl="0" marL="0" rtl="0" algn="l">
              <a:lnSpc>
                <a:spcPct val="135714"/>
              </a:lnSpc>
              <a:spcBef>
                <a:spcPts val="0"/>
              </a:spcBef>
              <a:spcAft>
                <a:spcPts val="0"/>
              </a:spcAft>
              <a:buNone/>
            </a:pPr>
            <a:r>
              <a:rPr b="1" lang="vi" sz="750">
                <a:solidFill>
                  <a:srgbClr val="FF0000"/>
                </a:solidFill>
                <a:latin typeface="Courier New"/>
                <a:ea typeface="Courier New"/>
                <a:cs typeface="Courier New"/>
                <a:sym typeface="Courier New"/>
              </a:rPr>
              <a:t>        )</a:t>
            </a:r>
            <a:endParaRPr b="1" sz="750">
              <a:solidFill>
                <a:srgbClr val="FF0000"/>
              </a:solidFill>
              <a:latin typeface="Courier New"/>
              <a:ea typeface="Courier New"/>
              <a:cs typeface="Courier New"/>
              <a:sym typeface="Courier New"/>
            </a:endParaRPr>
          </a:p>
          <a:p>
            <a:pPr indent="0" lvl="0" marL="0" rtl="0" algn="l">
              <a:lnSpc>
                <a:spcPct val="135714"/>
              </a:lnSpc>
              <a:spcBef>
                <a:spcPts val="0"/>
              </a:spcBef>
              <a:spcAft>
                <a:spcPts val="0"/>
              </a:spcAft>
              <a:buNone/>
            </a:pPr>
            <a:r>
              <a:rPr b="1" lang="vi" sz="750">
                <a:solidFill>
                  <a:srgbClr val="FF0000"/>
                </a:solidFill>
                <a:latin typeface="Courier New"/>
                <a:ea typeface="Courier New"/>
                <a:cs typeface="Courier New"/>
                <a:sym typeface="Courier New"/>
              </a:rPr>
              <a:t>        return response.text or ""</a:t>
            </a:r>
            <a:endParaRPr b="1" sz="750">
              <a:solidFill>
                <a:srgbClr val="FF0000"/>
              </a:solidFill>
              <a:latin typeface="Courier New"/>
              <a:ea typeface="Courier New"/>
              <a:cs typeface="Courier New"/>
              <a:sym typeface="Courier New"/>
            </a:endParaRPr>
          </a:p>
          <a:p>
            <a:pPr indent="0" lvl="0" marL="0" rtl="0" algn="l">
              <a:lnSpc>
                <a:spcPct val="135714"/>
              </a:lnSpc>
              <a:spcBef>
                <a:spcPts val="0"/>
              </a:spcBef>
              <a:spcAft>
                <a:spcPts val="0"/>
              </a:spcAft>
              <a:buNone/>
            </a:pPr>
            <a:r>
              <a:rPr b="1" lang="vi" sz="750">
                <a:solidFill>
                  <a:srgbClr val="FF0000"/>
                </a:solidFill>
                <a:latin typeface="Courier New"/>
                <a:ea typeface="Courier New"/>
                <a:cs typeface="Courier New"/>
                <a:sym typeface="Courier New"/>
              </a:rPr>
              <a:t>        </a:t>
            </a:r>
            <a:endParaRPr b="1" sz="750">
              <a:solidFill>
                <a:srgbClr val="FF0000"/>
              </a:solidFill>
              <a:latin typeface="Courier New"/>
              <a:ea typeface="Courier New"/>
              <a:cs typeface="Courier New"/>
              <a:sym typeface="Courier New"/>
            </a:endParaRPr>
          </a:p>
          <a:p>
            <a:pPr indent="0" lvl="0" marL="0" rtl="0" algn="l">
              <a:lnSpc>
                <a:spcPct val="135714"/>
              </a:lnSpc>
              <a:spcBef>
                <a:spcPts val="0"/>
              </a:spcBef>
              <a:spcAft>
                <a:spcPts val="0"/>
              </a:spcAft>
              <a:buNone/>
            </a:pPr>
            <a:r>
              <a:rPr b="1" lang="vi" sz="750">
                <a:solidFill>
                  <a:srgbClr val="FF0000"/>
                </a:solidFill>
                <a:latin typeface="Courier New"/>
                <a:ea typeface="Courier New"/>
                <a:cs typeface="Courier New"/>
                <a:sym typeface="Courier New"/>
              </a:rPr>
              <a:t>    except (ImportError, Exception):</a:t>
            </a:r>
            <a:endParaRPr b="1" sz="750">
              <a:solidFill>
                <a:srgbClr val="FF0000"/>
              </a:solidFill>
              <a:latin typeface="Courier New"/>
              <a:ea typeface="Courier New"/>
              <a:cs typeface="Courier New"/>
              <a:sym typeface="Courier New"/>
            </a:endParaRPr>
          </a:p>
          <a:p>
            <a:pPr indent="0" lvl="0" marL="0" rtl="0" algn="l">
              <a:lnSpc>
                <a:spcPct val="135714"/>
              </a:lnSpc>
              <a:spcBef>
                <a:spcPts val="0"/>
              </a:spcBef>
              <a:spcAft>
                <a:spcPts val="0"/>
              </a:spcAft>
              <a:buNone/>
            </a:pPr>
            <a:r>
              <a:rPr b="1" lang="vi" sz="750">
                <a:solidFill>
                  <a:srgbClr val="FF0000"/>
                </a:solidFill>
                <a:latin typeface="Courier New"/>
                <a:ea typeface="Courier New"/>
                <a:cs typeface="Courier New"/>
                <a:sym typeface="Courier New"/>
              </a:rPr>
              <a:t>        # Option B: Fallback to legacy google-generativeai SDK</a:t>
            </a:r>
            <a:endParaRPr b="1" sz="750">
              <a:solidFill>
                <a:srgbClr val="FF0000"/>
              </a:solidFill>
              <a:latin typeface="Courier New"/>
              <a:ea typeface="Courier New"/>
              <a:cs typeface="Courier New"/>
              <a:sym typeface="Courier New"/>
            </a:endParaRPr>
          </a:p>
          <a:p>
            <a:pPr indent="0" lvl="0" marL="0" rtl="0" algn="l">
              <a:lnSpc>
                <a:spcPct val="135714"/>
              </a:lnSpc>
              <a:spcBef>
                <a:spcPts val="0"/>
              </a:spcBef>
              <a:spcAft>
                <a:spcPts val="0"/>
              </a:spcAft>
              <a:buNone/>
            </a:pPr>
            <a:r>
              <a:rPr b="1" lang="vi" sz="750">
                <a:solidFill>
                  <a:srgbClr val="FF0000"/>
                </a:solidFill>
                <a:latin typeface="Courier New"/>
                <a:ea typeface="Courier New"/>
                <a:cs typeface="Courier New"/>
                <a:sym typeface="Courier New"/>
              </a:rPr>
              <a:t>        import google.generativeai as genai</a:t>
            </a:r>
            <a:endParaRPr b="1" sz="750">
              <a:solidFill>
                <a:srgbClr val="FF0000"/>
              </a:solidFill>
              <a:latin typeface="Courier New"/>
              <a:ea typeface="Courier New"/>
              <a:cs typeface="Courier New"/>
              <a:sym typeface="Courier New"/>
            </a:endParaRPr>
          </a:p>
          <a:p>
            <a:pPr indent="0" lvl="0" marL="0" rtl="0" algn="l">
              <a:lnSpc>
                <a:spcPct val="135714"/>
              </a:lnSpc>
              <a:spcBef>
                <a:spcPts val="0"/>
              </a:spcBef>
              <a:spcAft>
                <a:spcPts val="0"/>
              </a:spcAft>
              <a:buNone/>
            </a:pPr>
            <a:r>
              <a:rPr b="1" lang="vi" sz="750">
                <a:solidFill>
                  <a:srgbClr val="FF0000"/>
                </a:solidFill>
                <a:latin typeface="Courier New"/>
                <a:ea typeface="Courier New"/>
                <a:cs typeface="Courier New"/>
                <a:sym typeface="Courier New"/>
              </a:rPr>
              <a:t>        </a:t>
            </a:r>
            <a:endParaRPr b="1" sz="750">
              <a:solidFill>
                <a:srgbClr val="FF0000"/>
              </a:solidFill>
              <a:latin typeface="Courier New"/>
              <a:ea typeface="Courier New"/>
              <a:cs typeface="Courier New"/>
              <a:sym typeface="Courier New"/>
            </a:endParaRPr>
          </a:p>
          <a:p>
            <a:pPr indent="0" lvl="0" marL="0" rtl="0" algn="l">
              <a:lnSpc>
                <a:spcPct val="135714"/>
              </a:lnSpc>
              <a:spcBef>
                <a:spcPts val="0"/>
              </a:spcBef>
              <a:spcAft>
                <a:spcPts val="0"/>
              </a:spcAft>
              <a:buNone/>
            </a:pPr>
            <a:r>
              <a:rPr b="1" lang="vi" sz="750">
                <a:solidFill>
                  <a:srgbClr val="FF0000"/>
                </a:solidFill>
                <a:latin typeface="Courier New"/>
                <a:ea typeface="Courier New"/>
                <a:cs typeface="Courier New"/>
                <a:sym typeface="Courier New"/>
              </a:rPr>
              <a:t>        genai.configure(api_key=api_key)</a:t>
            </a:r>
            <a:endParaRPr b="1" sz="750">
              <a:solidFill>
                <a:srgbClr val="FF0000"/>
              </a:solidFill>
              <a:latin typeface="Courier New"/>
              <a:ea typeface="Courier New"/>
              <a:cs typeface="Courier New"/>
              <a:sym typeface="Courier New"/>
            </a:endParaRPr>
          </a:p>
          <a:p>
            <a:pPr indent="0" lvl="0" marL="0" rtl="0" algn="l">
              <a:lnSpc>
                <a:spcPct val="135714"/>
              </a:lnSpc>
              <a:spcBef>
                <a:spcPts val="0"/>
              </a:spcBef>
              <a:spcAft>
                <a:spcPts val="0"/>
              </a:spcAft>
              <a:buNone/>
            </a:pPr>
            <a:r>
              <a:rPr b="1" lang="vi" sz="750">
                <a:solidFill>
                  <a:srgbClr val="FF0000"/>
                </a:solidFill>
                <a:latin typeface="Courier New"/>
                <a:ea typeface="Courier New"/>
                <a:cs typeface="Courier New"/>
                <a:sym typeface="Courier New"/>
              </a:rPr>
              <a:t>        model_inst = genai.GenerativeModel(</a:t>
            </a:r>
            <a:endParaRPr b="1" sz="750">
              <a:solidFill>
                <a:srgbClr val="FF0000"/>
              </a:solidFill>
              <a:latin typeface="Courier New"/>
              <a:ea typeface="Courier New"/>
              <a:cs typeface="Courier New"/>
              <a:sym typeface="Courier New"/>
            </a:endParaRPr>
          </a:p>
          <a:p>
            <a:pPr indent="0" lvl="0" marL="0" rtl="0" algn="l">
              <a:lnSpc>
                <a:spcPct val="135714"/>
              </a:lnSpc>
              <a:spcBef>
                <a:spcPts val="0"/>
              </a:spcBef>
              <a:spcAft>
                <a:spcPts val="0"/>
              </a:spcAft>
              <a:buNone/>
            </a:pPr>
            <a:r>
              <a:rPr b="1" lang="vi" sz="750">
                <a:solidFill>
                  <a:srgbClr val="FF0000"/>
                </a:solidFill>
                <a:latin typeface="Courier New"/>
                <a:ea typeface="Courier New"/>
                <a:cs typeface="Courier New"/>
                <a:sym typeface="Courier New"/>
              </a:rPr>
              <a:t>            model_name=GEMINI_MODEL,</a:t>
            </a:r>
            <a:endParaRPr b="1" sz="750">
              <a:solidFill>
                <a:srgbClr val="FF0000"/>
              </a:solidFill>
              <a:latin typeface="Courier New"/>
              <a:ea typeface="Courier New"/>
              <a:cs typeface="Courier New"/>
              <a:sym typeface="Courier New"/>
            </a:endParaRPr>
          </a:p>
          <a:p>
            <a:pPr indent="0" lvl="0" marL="0" rtl="0" algn="l">
              <a:lnSpc>
                <a:spcPct val="135714"/>
              </a:lnSpc>
              <a:spcBef>
                <a:spcPts val="0"/>
              </a:spcBef>
              <a:spcAft>
                <a:spcPts val="0"/>
              </a:spcAft>
              <a:buNone/>
            </a:pPr>
            <a:r>
              <a:rPr b="1" lang="vi" sz="750">
                <a:solidFill>
                  <a:srgbClr val="FF0000"/>
                </a:solidFill>
                <a:latin typeface="Courier New"/>
                <a:ea typeface="Courier New"/>
                <a:cs typeface="Courier New"/>
                <a:sym typeface="Courier New"/>
              </a:rPr>
              <a:t>            system_instruction=SYSTEM_PROMPT</a:t>
            </a:r>
            <a:endParaRPr b="1" sz="750">
              <a:solidFill>
                <a:srgbClr val="FF0000"/>
              </a:solidFill>
              <a:latin typeface="Courier New"/>
              <a:ea typeface="Courier New"/>
              <a:cs typeface="Courier New"/>
              <a:sym typeface="Courier New"/>
            </a:endParaRPr>
          </a:p>
          <a:p>
            <a:pPr indent="0" lvl="0" marL="0" rtl="0" algn="l">
              <a:lnSpc>
                <a:spcPct val="135714"/>
              </a:lnSpc>
              <a:spcBef>
                <a:spcPts val="0"/>
              </a:spcBef>
              <a:spcAft>
                <a:spcPts val="0"/>
              </a:spcAft>
              <a:buNone/>
            </a:pPr>
            <a:r>
              <a:rPr b="1" lang="vi" sz="750">
                <a:solidFill>
                  <a:srgbClr val="FF0000"/>
                </a:solidFill>
                <a:latin typeface="Courier New"/>
                <a:ea typeface="Courier New"/>
                <a:cs typeface="Courier New"/>
                <a:sym typeface="Courier New"/>
              </a:rPr>
              <a:t>        )</a:t>
            </a:r>
            <a:endParaRPr b="1" sz="750">
              <a:solidFill>
                <a:srgbClr val="FF0000"/>
              </a:solidFill>
              <a:latin typeface="Courier New"/>
              <a:ea typeface="Courier New"/>
              <a:cs typeface="Courier New"/>
              <a:sym typeface="Courier New"/>
            </a:endParaRPr>
          </a:p>
          <a:p>
            <a:pPr indent="0" lvl="0" marL="0" rtl="0" algn="l">
              <a:lnSpc>
                <a:spcPct val="135714"/>
              </a:lnSpc>
              <a:spcBef>
                <a:spcPts val="0"/>
              </a:spcBef>
              <a:spcAft>
                <a:spcPts val="0"/>
              </a:spcAft>
              <a:buNone/>
            </a:pPr>
            <a:r>
              <a:rPr b="1" lang="vi" sz="750">
                <a:solidFill>
                  <a:srgbClr val="FF0000"/>
                </a:solidFill>
                <a:latin typeface="Courier New"/>
                <a:ea typeface="Courier New"/>
                <a:cs typeface="Courier New"/>
                <a:sym typeface="Courier New"/>
              </a:rPr>
              <a:t>        config = genai.types.GenerationConfig(</a:t>
            </a:r>
            <a:endParaRPr b="1" sz="750">
              <a:solidFill>
                <a:srgbClr val="FF0000"/>
              </a:solidFill>
              <a:latin typeface="Courier New"/>
              <a:ea typeface="Courier New"/>
              <a:cs typeface="Courier New"/>
              <a:sym typeface="Courier New"/>
            </a:endParaRPr>
          </a:p>
          <a:p>
            <a:pPr indent="0" lvl="0" marL="0" rtl="0" algn="l">
              <a:lnSpc>
                <a:spcPct val="135714"/>
              </a:lnSpc>
              <a:spcBef>
                <a:spcPts val="0"/>
              </a:spcBef>
              <a:spcAft>
                <a:spcPts val="0"/>
              </a:spcAft>
              <a:buNone/>
            </a:pPr>
            <a:r>
              <a:rPr b="1" lang="vi" sz="750">
                <a:solidFill>
                  <a:srgbClr val="FF0000"/>
                </a:solidFill>
                <a:latin typeface="Courier New"/>
                <a:ea typeface="Courier New"/>
                <a:cs typeface="Courier New"/>
                <a:sym typeface="Courier New"/>
              </a:rPr>
              <a:t>            temperature=0.0</a:t>
            </a:r>
            <a:endParaRPr b="1" sz="750">
              <a:solidFill>
                <a:srgbClr val="FF0000"/>
              </a:solidFill>
              <a:latin typeface="Courier New"/>
              <a:ea typeface="Courier New"/>
              <a:cs typeface="Courier New"/>
              <a:sym typeface="Courier New"/>
            </a:endParaRPr>
          </a:p>
          <a:p>
            <a:pPr indent="0" lvl="0" marL="0" rtl="0" algn="l">
              <a:lnSpc>
                <a:spcPct val="135714"/>
              </a:lnSpc>
              <a:spcBef>
                <a:spcPts val="0"/>
              </a:spcBef>
              <a:spcAft>
                <a:spcPts val="0"/>
              </a:spcAft>
              <a:buNone/>
            </a:pPr>
            <a:r>
              <a:rPr b="1" lang="vi" sz="750">
                <a:solidFill>
                  <a:srgbClr val="FF0000"/>
                </a:solidFill>
                <a:latin typeface="Courier New"/>
                <a:ea typeface="Courier New"/>
                <a:cs typeface="Courier New"/>
                <a:sym typeface="Courier New"/>
              </a:rPr>
              <a:t>        )</a:t>
            </a:r>
            <a:endParaRPr b="1" sz="750">
              <a:solidFill>
                <a:srgbClr val="FF0000"/>
              </a:solidFill>
              <a:latin typeface="Courier New"/>
              <a:ea typeface="Courier New"/>
              <a:cs typeface="Courier New"/>
              <a:sym typeface="Courier New"/>
            </a:endParaRPr>
          </a:p>
          <a:p>
            <a:pPr indent="0" lvl="0" marL="0" rtl="0" algn="l">
              <a:lnSpc>
                <a:spcPct val="135714"/>
              </a:lnSpc>
              <a:spcBef>
                <a:spcPts val="0"/>
              </a:spcBef>
              <a:spcAft>
                <a:spcPts val="0"/>
              </a:spcAft>
              <a:buNone/>
            </a:pPr>
            <a:r>
              <a:rPr b="1" lang="vi" sz="750">
                <a:solidFill>
                  <a:srgbClr val="FF0000"/>
                </a:solidFill>
                <a:latin typeface="Courier New"/>
                <a:ea typeface="Courier New"/>
                <a:cs typeface="Courier New"/>
                <a:sym typeface="Courier New"/>
              </a:rPr>
              <a:t>        response = model_inst.generate_content(</a:t>
            </a:r>
            <a:endParaRPr b="1" sz="750">
              <a:solidFill>
                <a:srgbClr val="FF0000"/>
              </a:solidFill>
              <a:latin typeface="Courier New"/>
              <a:ea typeface="Courier New"/>
              <a:cs typeface="Courier New"/>
              <a:sym typeface="Courier New"/>
            </a:endParaRPr>
          </a:p>
          <a:p>
            <a:pPr indent="0" lvl="0" marL="0" rtl="0" algn="l">
              <a:lnSpc>
                <a:spcPct val="135714"/>
              </a:lnSpc>
              <a:spcBef>
                <a:spcPts val="0"/>
              </a:spcBef>
              <a:spcAft>
                <a:spcPts val="0"/>
              </a:spcAft>
              <a:buNone/>
            </a:pPr>
            <a:r>
              <a:rPr b="1" lang="vi" sz="750">
                <a:solidFill>
                  <a:srgbClr val="FF0000"/>
                </a:solidFill>
                <a:latin typeface="Courier New"/>
                <a:ea typeface="Courier New"/>
                <a:cs typeface="Courier New"/>
                <a:sym typeface="Courier New"/>
              </a:rPr>
              <a:t>            user_input,</a:t>
            </a:r>
            <a:endParaRPr b="1" sz="750">
              <a:solidFill>
                <a:srgbClr val="FF0000"/>
              </a:solidFill>
              <a:latin typeface="Courier New"/>
              <a:ea typeface="Courier New"/>
              <a:cs typeface="Courier New"/>
              <a:sym typeface="Courier New"/>
            </a:endParaRPr>
          </a:p>
          <a:p>
            <a:pPr indent="0" lvl="0" marL="0" rtl="0" algn="l">
              <a:lnSpc>
                <a:spcPct val="135714"/>
              </a:lnSpc>
              <a:spcBef>
                <a:spcPts val="0"/>
              </a:spcBef>
              <a:spcAft>
                <a:spcPts val="0"/>
              </a:spcAft>
              <a:buNone/>
            </a:pPr>
            <a:r>
              <a:rPr b="1" lang="vi" sz="750">
                <a:solidFill>
                  <a:srgbClr val="FF0000"/>
                </a:solidFill>
                <a:latin typeface="Courier New"/>
                <a:ea typeface="Courier New"/>
                <a:cs typeface="Courier New"/>
                <a:sym typeface="Courier New"/>
              </a:rPr>
              <a:t>            generation_config=config</a:t>
            </a:r>
            <a:endParaRPr b="1" sz="750">
              <a:solidFill>
                <a:srgbClr val="FF0000"/>
              </a:solidFill>
              <a:latin typeface="Courier New"/>
              <a:ea typeface="Courier New"/>
              <a:cs typeface="Courier New"/>
              <a:sym typeface="Courier New"/>
            </a:endParaRPr>
          </a:p>
          <a:p>
            <a:pPr indent="0" lvl="0" marL="0" rtl="0" algn="l">
              <a:lnSpc>
                <a:spcPct val="135714"/>
              </a:lnSpc>
              <a:spcBef>
                <a:spcPts val="0"/>
              </a:spcBef>
              <a:spcAft>
                <a:spcPts val="0"/>
              </a:spcAft>
              <a:buNone/>
            </a:pPr>
            <a:r>
              <a:rPr b="1" lang="vi" sz="750">
                <a:solidFill>
                  <a:srgbClr val="FF0000"/>
                </a:solidFill>
                <a:latin typeface="Courier New"/>
                <a:ea typeface="Courier New"/>
                <a:cs typeface="Courier New"/>
                <a:sym typeface="Courier New"/>
              </a:rPr>
              <a:t>        )</a:t>
            </a:r>
            <a:endParaRPr b="1" sz="750">
              <a:solidFill>
                <a:srgbClr val="FF0000"/>
              </a:solidFill>
              <a:latin typeface="Courier New"/>
              <a:ea typeface="Courier New"/>
              <a:cs typeface="Courier New"/>
              <a:sym typeface="Courier New"/>
            </a:endParaRPr>
          </a:p>
          <a:p>
            <a:pPr indent="0" lvl="0" marL="0" rtl="0" algn="l">
              <a:lnSpc>
                <a:spcPct val="135714"/>
              </a:lnSpc>
              <a:spcBef>
                <a:spcPts val="0"/>
              </a:spcBef>
              <a:spcAft>
                <a:spcPts val="0"/>
              </a:spcAft>
              <a:buNone/>
            </a:pPr>
            <a:r>
              <a:rPr b="1" lang="vi" sz="750">
                <a:solidFill>
                  <a:srgbClr val="FF0000"/>
                </a:solidFill>
                <a:latin typeface="Courier New"/>
                <a:ea typeface="Courier New"/>
                <a:cs typeface="Courier New"/>
                <a:sym typeface="Courier New"/>
              </a:rPr>
              <a:t>        return response.text or ""</a:t>
            </a:r>
            <a:endParaRPr b="1" sz="750">
              <a:solidFill>
                <a:srgbClr val="FF0000"/>
              </a:solidFill>
              <a:latin typeface="Courier New"/>
              <a:ea typeface="Courier New"/>
              <a:cs typeface="Courier New"/>
              <a:sym typeface="Courier New"/>
            </a:endParaRPr>
          </a:p>
        </p:txBody>
      </p:sp>
      <p:sp>
        <p:nvSpPr>
          <p:cNvPr id="248" name="Google Shape;248;p36"/>
          <p:cNvSpPr txBox="1"/>
          <p:nvPr/>
        </p:nvSpPr>
        <p:spPr>
          <a:xfrm>
            <a:off x="412675" y="1173438"/>
            <a:ext cx="4796700" cy="5334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t/>
            </a:r>
            <a:endParaRPr b="1" sz="3200">
              <a:solidFill>
                <a:srgbClr val="000000"/>
              </a:solidFill>
              <a:latin typeface="Google Sans"/>
              <a:ea typeface="Google Sans"/>
              <a:cs typeface="Google Sans"/>
              <a:sym typeface="Google Sans"/>
            </a:endParaRPr>
          </a:p>
          <a:p>
            <a:pPr indent="0" lvl="0" marL="0" rtl="0" algn="l">
              <a:spcBef>
                <a:spcPts val="1000"/>
              </a:spcBef>
              <a:spcAft>
                <a:spcPts val="1000"/>
              </a:spcAft>
              <a:buNone/>
            </a:pPr>
            <a:r>
              <a:rPr lang="vi" sz="2000">
                <a:solidFill>
                  <a:srgbClr val="434343"/>
                </a:solidFill>
                <a:latin typeface="Google Sans Medium"/>
                <a:ea typeface="Google Sans Medium"/>
                <a:cs typeface="Google Sans Medium"/>
                <a:sym typeface="Google Sans Medium"/>
              </a:rPr>
              <a:t>Thay thế toàn bộ code bên dưới để hoàn thành </a:t>
            </a:r>
            <a:r>
              <a:rPr lang="vi" sz="2000">
                <a:solidFill>
                  <a:srgbClr val="DB4437"/>
                </a:solidFill>
                <a:latin typeface="Google Sans Medium"/>
                <a:ea typeface="Google Sans Medium"/>
                <a:cs typeface="Google Sans Medium"/>
                <a:sym typeface="Google Sans Medium"/>
              </a:rPr>
              <a:t>Task 2</a:t>
            </a:r>
            <a:endParaRPr sz="2000">
              <a:solidFill>
                <a:srgbClr val="DB4437"/>
              </a:solidFill>
              <a:latin typeface="Google Sans Medium"/>
              <a:ea typeface="Google Sans Medium"/>
              <a:cs typeface="Google Sans Medium"/>
              <a:sym typeface="Google Sans Medium"/>
            </a:endParaRPr>
          </a:p>
        </p:txBody>
      </p:sp>
      <p:sp>
        <p:nvSpPr>
          <p:cNvPr id="249" name="Google Shape;249;p36"/>
          <p:cNvSpPr txBox="1"/>
          <p:nvPr/>
        </p:nvSpPr>
        <p:spPr>
          <a:xfrm>
            <a:off x="321950" y="310100"/>
            <a:ext cx="8375400" cy="7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1000"/>
              </a:spcAft>
              <a:buNone/>
            </a:pPr>
            <a:r>
              <a:rPr b="1" lang="vi" sz="3800">
                <a:solidFill>
                  <a:schemeClr val="dk1"/>
                </a:solidFill>
                <a:latin typeface="Google Sans"/>
                <a:ea typeface="Google Sans"/>
                <a:cs typeface="Google Sans"/>
                <a:sym typeface="Google Sans"/>
              </a:rPr>
              <a:t>Hướng dẫn hoàn thành bài Lab (5)</a:t>
            </a:r>
            <a:endParaRPr sz="20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pic>
        <p:nvPicPr>
          <p:cNvPr id="254" name="Google Shape;254;p37"/>
          <p:cNvPicPr preferRelativeResize="0"/>
          <p:nvPr/>
        </p:nvPicPr>
        <p:blipFill rotWithShape="1">
          <a:blip r:embed="rId3">
            <a:alphaModFix/>
          </a:blip>
          <a:srcRect b="0" l="0" r="0" t="31243"/>
          <a:stretch/>
        </p:blipFill>
        <p:spPr>
          <a:xfrm>
            <a:off x="0" y="2784074"/>
            <a:ext cx="9143999" cy="2370750"/>
          </a:xfrm>
          <a:prstGeom prst="rect">
            <a:avLst/>
          </a:prstGeom>
          <a:noFill/>
          <a:ln>
            <a:noFill/>
          </a:ln>
        </p:spPr>
      </p:pic>
      <p:pic>
        <p:nvPicPr>
          <p:cNvPr id="255" name="Google Shape;255;p37"/>
          <p:cNvPicPr preferRelativeResize="0"/>
          <p:nvPr/>
        </p:nvPicPr>
        <p:blipFill>
          <a:blip r:embed="rId4">
            <a:alphaModFix/>
          </a:blip>
          <a:stretch>
            <a:fillRect/>
          </a:stretch>
        </p:blipFill>
        <p:spPr>
          <a:xfrm flipH="1" rot="2083272">
            <a:off x="6821393" y="3336112"/>
            <a:ext cx="487238" cy="625000"/>
          </a:xfrm>
          <a:prstGeom prst="rect">
            <a:avLst/>
          </a:prstGeom>
          <a:noFill/>
          <a:ln>
            <a:noFill/>
          </a:ln>
        </p:spPr>
      </p:pic>
      <p:sp>
        <p:nvSpPr>
          <p:cNvPr id="256" name="Google Shape;256;p37"/>
          <p:cNvSpPr txBox="1"/>
          <p:nvPr/>
        </p:nvSpPr>
        <p:spPr>
          <a:xfrm>
            <a:off x="5393300" y="3727300"/>
            <a:ext cx="3750900" cy="710700"/>
          </a:xfrm>
          <a:prstGeom prst="rect">
            <a:avLst/>
          </a:prstGeom>
          <a:no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b="1" lang="vi" sz="1450">
                <a:solidFill>
                  <a:srgbClr val="FF0000"/>
                </a:solidFill>
                <a:latin typeface="Courier New"/>
                <a:ea typeface="Courier New"/>
                <a:cs typeface="Courier New"/>
                <a:sym typeface="Courier New"/>
              </a:rPr>
              <a:t>python starter-code/prompt_prototype.py</a:t>
            </a:r>
            <a:endParaRPr b="1" sz="1450">
              <a:solidFill>
                <a:srgbClr val="FF0000"/>
              </a:solidFill>
              <a:latin typeface="Courier New"/>
              <a:ea typeface="Courier New"/>
              <a:cs typeface="Courier New"/>
              <a:sym typeface="Courier New"/>
            </a:endParaRPr>
          </a:p>
        </p:txBody>
      </p:sp>
      <p:sp>
        <p:nvSpPr>
          <p:cNvPr id="257" name="Google Shape;257;p37"/>
          <p:cNvSpPr txBox="1"/>
          <p:nvPr/>
        </p:nvSpPr>
        <p:spPr>
          <a:xfrm>
            <a:off x="412675" y="1173450"/>
            <a:ext cx="5325000" cy="5334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t/>
            </a:r>
            <a:endParaRPr b="1" sz="3200">
              <a:solidFill>
                <a:srgbClr val="000000"/>
              </a:solidFill>
              <a:latin typeface="Google Sans"/>
              <a:ea typeface="Google Sans"/>
              <a:cs typeface="Google Sans"/>
              <a:sym typeface="Google Sans"/>
            </a:endParaRPr>
          </a:p>
          <a:p>
            <a:pPr indent="0" lvl="0" marL="0" rtl="0" algn="l">
              <a:spcBef>
                <a:spcPts val="1000"/>
              </a:spcBef>
              <a:spcAft>
                <a:spcPts val="1000"/>
              </a:spcAft>
              <a:buNone/>
            </a:pPr>
            <a:r>
              <a:rPr lang="vi" sz="2000">
                <a:solidFill>
                  <a:srgbClr val="434343"/>
                </a:solidFill>
                <a:latin typeface="Google Sans Medium"/>
                <a:ea typeface="Google Sans Medium"/>
                <a:cs typeface="Google Sans Medium"/>
                <a:sym typeface="Google Sans Medium"/>
              </a:rPr>
              <a:t>Trong Terminal, gõ lệnh sau để test kết quả</a:t>
            </a:r>
            <a:endParaRPr sz="2000">
              <a:solidFill>
                <a:srgbClr val="434343"/>
              </a:solidFill>
              <a:latin typeface="Google Sans Medium"/>
              <a:ea typeface="Google Sans Medium"/>
              <a:cs typeface="Google Sans Medium"/>
              <a:sym typeface="Google Sans Medium"/>
            </a:endParaRPr>
          </a:p>
        </p:txBody>
      </p:sp>
      <p:sp>
        <p:nvSpPr>
          <p:cNvPr id="258" name="Google Shape;258;p37"/>
          <p:cNvSpPr txBox="1"/>
          <p:nvPr/>
        </p:nvSpPr>
        <p:spPr>
          <a:xfrm>
            <a:off x="321950" y="310100"/>
            <a:ext cx="8375400" cy="7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1000"/>
              </a:spcAft>
              <a:buNone/>
            </a:pPr>
            <a:r>
              <a:rPr b="1" lang="vi" sz="3800">
                <a:solidFill>
                  <a:schemeClr val="dk1"/>
                </a:solidFill>
                <a:latin typeface="Google Sans"/>
                <a:ea typeface="Google Sans"/>
                <a:cs typeface="Google Sans"/>
                <a:sym typeface="Google Sans"/>
              </a:rPr>
              <a:t>Hướng dẫn hoàn thành bài Lab (6)</a:t>
            </a:r>
            <a:endParaRPr sz="2000"/>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8"/>
          <p:cNvSpPr txBox="1"/>
          <p:nvPr/>
        </p:nvSpPr>
        <p:spPr>
          <a:xfrm>
            <a:off x="321950" y="310100"/>
            <a:ext cx="8375400" cy="7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1000"/>
              </a:spcAft>
              <a:buNone/>
            </a:pPr>
            <a:r>
              <a:rPr b="1" lang="vi" sz="3800">
                <a:solidFill>
                  <a:schemeClr val="dk1"/>
                </a:solidFill>
                <a:latin typeface="Google Sans"/>
                <a:ea typeface="Google Sans"/>
                <a:cs typeface="Google Sans"/>
                <a:sym typeface="Google Sans"/>
              </a:rPr>
              <a:t>Hướng dẫn hoàn thành bài Lab (7)</a:t>
            </a:r>
            <a:endParaRPr sz="2000"/>
          </a:p>
        </p:txBody>
      </p:sp>
      <p:pic>
        <p:nvPicPr>
          <p:cNvPr id="264" name="Google Shape;264;p38"/>
          <p:cNvPicPr preferRelativeResize="0"/>
          <p:nvPr/>
        </p:nvPicPr>
        <p:blipFill>
          <a:blip r:embed="rId3">
            <a:alphaModFix/>
          </a:blip>
          <a:stretch>
            <a:fillRect/>
          </a:stretch>
        </p:blipFill>
        <p:spPr>
          <a:xfrm>
            <a:off x="1472525" y="1800700"/>
            <a:ext cx="4908975" cy="3005650"/>
          </a:xfrm>
          <a:prstGeom prst="rect">
            <a:avLst/>
          </a:prstGeom>
          <a:noFill/>
          <a:ln>
            <a:noFill/>
          </a:ln>
        </p:spPr>
      </p:pic>
      <p:sp>
        <p:nvSpPr>
          <p:cNvPr id="265" name="Google Shape;265;p38"/>
          <p:cNvSpPr txBox="1"/>
          <p:nvPr/>
        </p:nvSpPr>
        <p:spPr>
          <a:xfrm>
            <a:off x="392150" y="1132375"/>
            <a:ext cx="5900400" cy="5334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t/>
            </a:r>
            <a:endParaRPr b="1" sz="3200">
              <a:solidFill>
                <a:srgbClr val="000000"/>
              </a:solidFill>
              <a:latin typeface="Google Sans"/>
              <a:ea typeface="Google Sans"/>
              <a:cs typeface="Google Sans"/>
              <a:sym typeface="Google Sans"/>
            </a:endParaRPr>
          </a:p>
          <a:p>
            <a:pPr indent="0" lvl="0" marL="0" rtl="0" algn="l">
              <a:spcBef>
                <a:spcPts val="1000"/>
              </a:spcBef>
              <a:spcAft>
                <a:spcPts val="1000"/>
              </a:spcAft>
              <a:buNone/>
            </a:pPr>
            <a:r>
              <a:rPr lang="vi" sz="2000">
                <a:solidFill>
                  <a:srgbClr val="434343"/>
                </a:solidFill>
                <a:latin typeface="Google Sans Medium"/>
                <a:ea typeface="Google Sans Medium"/>
                <a:cs typeface="Google Sans Medium"/>
                <a:sym typeface="Google Sans Medium"/>
              </a:rPr>
              <a:t>Kết quả sẽ như hình sau:</a:t>
            </a:r>
            <a:endParaRPr sz="2000">
              <a:solidFill>
                <a:srgbClr val="434343"/>
              </a:solidFill>
              <a:latin typeface="Google Sans Medium"/>
              <a:ea typeface="Google Sans Medium"/>
              <a:cs typeface="Google Sans Medium"/>
              <a:sym typeface="Google Sans Medium"/>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39"/>
          <p:cNvSpPr txBox="1"/>
          <p:nvPr/>
        </p:nvSpPr>
        <p:spPr>
          <a:xfrm>
            <a:off x="321950" y="310100"/>
            <a:ext cx="8375400" cy="7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1000"/>
              </a:spcAft>
              <a:buNone/>
            </a:pPr>
            <a:r>
              <a:rPr b="1" lang="vi" sz="3800">
                <a:solidFill>
                  <a:schemeClr val="dk1"/>
                </a:solidFill>
                <a:latin typeface="Google Sans"/>
                <a:ea typeface="Google Sans"/>
                <a:cs typeface="Google Sans"/>
                <a:sym typeface="Google Sans"/>
              </a:rPr>
              <a:t>Hướng dẫn hoàn thành bài Lab (8)</a:t>
            </a:r>
            <a:endParaRPr sz="2000"/>
          </a:p>
        </p:txBody>
      </p:sp>
      <p:sp>
        <p:nvSpPr>
          <p:cNvPr id="271" name="Google Shape;271;p39"/>
          <p:cNvSpPr txBox="1"/>
          <p:nvPr/>
        </p:nvSpPr>
        <p:spPr>
          <a:xfrm>
            <a:off x="311700" y="1293575"/>
            <a:ext cx="8250600" cy="3249300"/>
          </a:xfrm>
          <a:prstGeom prst="rect">
            <a:avLst/>
          </a:prstGeom>
          <a:noFill/>
          <a:ln>
            <a:noFill/>
          </a:ln>
        </p:spPr>
        <p:txBody>
          <a:bodyPr anchorCtr="0" anchor="t" bIns="91425" lIns="91425" spcFirstLastPara="1" rIns="91425" wrap="square" tIns="91425">
            <a:spAutoFit/>
          </a:bodyPr>
          <a:lstStyle/>
          <a:p>
            <a:pPr indent="-368300" lvl="0" marL="457200" rtl="0" algn="l">
              <a:lnSpc>
                <a:spcPct val="115000"/>
              </a:lnSpc>
              <a:spcBef>
                <a:spcPts val="0"/>
              </a:spcBef>
              <a:spcAft>
                <a:spcPts val="0"/>
              </a:spcAft>
              <a:buClr>
                <a:srgbClr val="434343"/>
              </a:buClr>
              <a:buSzPts val="2200"/>
              <a:buFont typeface="Google Sans Medium"/>
              <a:buChar char="●"/>
            </a:pPr>
            <a:r>
              <a:rPr lang="vi" sz="2200">
                <a:solidFill>
                  <a:srgbClr val="434343"/>
                </a:solidFill>
                <a:latin typeface="Google Sans Medium"/>
                <a:ea typeface="Google Sans Medium"/>
                <a:cs typeface="Google Sans Medium"/>
                <a:sym typeface="Google Sans Medium"/>
              </a:rPr>
              <a:t>Sau khi có kết quả, hãy hoàn thiện các files của bài Lab</a:t>
            </a:r>
            <a:endParaRPr sz="2200">
              <a:solidFill>
                <a:srgbClr val="434343"/>
              </a:solidFill>
              <a:latin typeface="Google Sans Medium"/>
              <a:ea typeface="Google Sans Medium"/>
              <a:cs typeface="Google Sans Medium"/>
              <a:sym typeface="Google Sans Medium"/>
            </a:endParaRPr>
          </a:p>
          <a:p>
            <a:pPr indent="-368300" lvl="0" marL="457200" rtl="0" algn="l">
              <a:lnSpc>
                <a:spcPct val="115000"/>
              </a:lnSpc>
              <a:spcBef>
                <a:spcPts val="0"/>
              </a:spcBef>
              <a:spcAft>
                <a:spcPts val="0"/>
              </a:spcAft>
              <a:buClr>
                <a:srgbClr val="434343"/>
              </a:buClr>
              <a:buSzPts val="2200"/>
              <a:buFont typeface="Google Sans Medium"/>
              <a:buChar char="●"/>
            </a:pPr>
            <a:r>
              <a:rPr lang="vi" sz="2200">
                <a:solidFill>
                  <a:srgbClr val="434343"/>
                </a:solidFill>
                <a:latin typeface="Google Sans Medium"/>
                <a:ea typeface="Google Sans Medium"/>
                <a:cs typeface="Google Sans Medium"/>
                <a:sym typeface="Google Sans Medium"/>
              </a:rPr>
              <a:t>Đọc kỹ </a:t>
            </a:r>
            <a:r>
              <a:rPr b="1" lang="vi" sz="2200">
                <a:solidFill>
                  <a:srgbClr val="DB4437"/>
                </a:solidFill>
                <a:latin typeface="Courier New"/>
                <a:ea typeface="Courier New"/>
                <a:cs typeface="Courier New"/>
                <a:sym typeface="Courier New"/>
              </a:rPr>
              <a:t>student_guide.md</a:t>
            </a:r>
            <a:r>
              <a:rPr lang="vi" sz="2200">
                <a:solidFill>
                  <a:srgbClr val="434343"/>
                </a:solidFill>
                <a:latin typeface="Google Sans Medium"/>
                <a:ea typeface="Google Sans Medium"/>
                <a:cs typeface="Google Sans Medium"/>
                <a:sym typeface="Google Sans Medium"/>
              </a:rPr>
              <a:t> để hoàn thành các files</a:t>
            </a:r>
            <a:endParaRPr sz="2200">
              <a:solidFill>
                <a:srgbClr val="434343"/>
              </a:solidFill>
              <a:latin typeface="Google Sans Medium"/>
              <a:ea typeface="Google Sans Medium"/>
              <a:cs typeface="Google Sans Medium"/>
              <a:sym typeface="Google Sans Medium"/>
            </a:endParaRPr>
          </a:p>
          <a:p>
            <a:pPr indent="-368300" lvl="0" marL="457200" rtl="0" algn="l">
              <a:lnSpc>
                <a:spcPct val="115000"/>
              </a:lnSpc>
              <a:spcBef>
                <a:spcPts val="0"/>
              </a:spcBef>
              <a:spcAft>
                <a:spcPts val="0"/>
              </a:spcAft>
              <a:buClr>
                <a:srgbClr val="434343"/>
              </a:buClr>
              <a:buSzPts val="2200"/>
              <a:buFont typeface="Google Sans Medium"/>
              <a:buChar char="●"/>
            </a:pPr>
            <a:r>
              <a:rPr lang="vi" sz="2200">
                <a:solidFill>
                  <a:srgbClr val="434343"/>
                </a:solidFill>
                <a:latin typeface="Google Sans Medium"/>
                <a:ea typeface="Google Sans Medium"/>
                <a:cs typeface="Google Sans Medium"/>
                <a:sym typeface="Google Sans Medium"/>
              </a:rPr>
              <a:t>Các files cần nộp:</a:t>
            </a:r>
            <a:endParaRPr sz="2200">
              <a:solidFill>
                <a:srgbClr val="434343"/>
              </a:solidFill>
              <a:latin typeface="Google Sans Medium"/>
              <a:ea typeface="Google Sans Medium"/>
              <a:cs typeface="Google Sans Medium"/>
              <a:sym typeface="Google Sans Medium"/>
            </a:endParaRPr>
          </a:p>
          <a:p>
            <a:pPr indent="-368300" lvl="1" marL="914400" rtl="0" algn="l">
              <a:lnSpc>
                <a:spcPct val="115000"/>
              </a:lnSpc>
              <a:spcBef>
                <a:spcPts val="0"/>
              </a:spcBef>
              <a:spcAft>
                <a:spcPts val="0"/>
              </a:spcAft>
              <a:buClr>
                <a:srgbClr val="434343"/>
              </a:buClr>
              <a:buSzPts val="2200"/>
              <a:buFont typeface="Google Sans Medium"/>
              <a:buChar char="○"/>
            </a:pPr>
            <a:r>
              <a:rPr lang="vi" sz="2200">
                <a:solidFill>
                  <a:srgbClr val="434343"/>
                </a:solidFill>
                <a:latin typeface="Google Sans Medium"/>
                <a:ea typeface="Google Sans Medium"/>
                <a:cs typeface="Google Sans Medium"/>
                <a:sym typeface="Google Sans Medium"/>
              </a:rPr>
              <a:t>01-problem-scan.md</a:t>
            </a:r>
            <a:endParaRPr sz="2200">
              <a:solidFill>
                <a:srgbClr val="434343"/>
              </a:solidFill>
              <a:latin typeface="Google Sans Medium"/>
              <a:ea typeface="Google Sans Medium"/>
              <a:cs typeface="Google Sans Medium"/>
              <a:sym typeface="Google Sans Medium"/>
            </a:endParaRPr>
          </a:p>
          <a:p>
            <a:pPr indent="-368300" lvl="1" marL="914400" rtl="0" algn="l">
              <a:lnSpc>
                <a:spcPct val="115000"/>
              </a:lnSpc>
              <a:spcBef>
                <a:spcPts val="0"/>
              </a:spcBef>
              <a:spcAft>
                <a:spcPts val="0"/>
              </a:spcAft>
              <a:buClr>
                <a:srgbClr val="434343"/>
              </a:buClr>
              <a:buSzPts val="2200"/>
              <a:buFont typeface="Google Sans Medium"/>
              <a:buChar char="○"/>
            </a:pPr>
            <a:r>
              <a:rPr lang="vi" sz="2200">
                <a:solidFill>
                  <a:srgbClr val="434343"/>
                </a:solidFill>
                <a:latin typeface="Google Sans Medium"/>
                <a:ea typeface="Google Sans Medium"/>
                <a:cs typeface="Google Sans Medium"/>
                <a:sym typeface="Google Sans Medium"/>
              </a:rPr>
              <a:t>02-deep-dive-report.md</a:t>
            </a:r>
            <a:r>
              <a:rPr lang="vi" sz="2200">
                <a:solidFill>
                  <a:srgbClr val="434343"/>
                </a:solidFill>
                <a:latin typeface="Google Sans Medium"/>
                <a:ea typeface="Google Sans Medium"/>
                <a:cs typeface="Google Sans Medium"/>
                <a:sym typeface="Google Sans Medium"/>
              </a:rPr>
              <a:t> (Lưu ý: Điền họ tên các thành viên trong nhóm ở file này)</a:t>
            </a:r>
            <a:endParaRPr sz="2200">
              <a:solidFill>
                <a:srgbClr val="434343"/>
              </a:solidFill>
              <a:latin typeface="Google Sans Medium"/>
              <a:ea typeface="Google Sans Medium"/>
              <a:cs typeface="Google Sans Medium"/>
              <a:sym typeface="Google Sans Medium"/>
            </a:endParaRPr>
          </a:p>
          <a:p>
            <a:pPr indent="-368300" lvl="1" marL="914400" rtl="0" algn="l">
              <a:lnSpc>
                <a:spcPct val="115000"/>
              </a:lnSpc>
              <a:spcBef>
                <a:spcPts val="0"/>
              </a:spcBef>
              <a:spcAft>
                <a:spcPts val="0"/>
              </a:spcAft>
              <a:buClr>
                <a:srgbClr val="434343"/>
              </a:buClr>
              <a:buSzPts val="2200"/>
              <a:buFont typeface="Google Sans Medium"/>
              <a:buChar char="○"/>
            </a:pPr>
            <a:r>
              <a:rPr lang="vi" sz="2200">
                <a:solidFill>
                  <a:srgbClr val="434343"/>
                </a:solidFill>
                <a:latin typeface="Google Sans Medium"/>
                <a:ea typeface="Google Sans Medium"/>
                <a:cs typeface="Google Sans Medium"/>
                <a:sym typeface="Google Sans Medium"/>
              </a:rPr>
              <a:t>03-ai-log.md</a:t>
            </a:r>
            <a:endParaRPr sz="2200">
              <a:solidFill>
                <a:srgbClr val="434343"/>
              </a:solidFill>
              <a:latin typeface="Google Sans Medium"/>
              <a:ea typeface="Google Sans Medium"/>
              <a:cs typeface="Google Sans Medium"/>
              <a:sym typeface="Google Sans Medium"/>
            </a:endParaRPr>
          </a:p>
          <a:p>
            <a:pPr indent="-368300" lvl="1" marL="914400" rtl="0" algn="l">
              <a:lnSpc>
                <a:spcPct val="115000"/>
              </a:lnSpc>
              <a:spcBef>
                <a:spcPts val="0"/>
              </a:spcBef>
              <a:spcAft>
                <a:spcPts val="0"/>
              </a:spcAft>
              <a:buClr>
                <a:srgbClr val="434343"/>
              </a:buClr>
              <a:buSzPts val="2200"/>
              <a:buFont typeface="Google Sans Medium"/>
              <a:buChar char="○"/>
            </a:pPr>
            <a:r>
              <a:rPr lang="vi" sz="2200">
                <a:solidFill>
                  <a:srgbClr val="434343"/>
                </a:solidFill>
                <a:latin typeface="Google Sans Medium"/>
                <a:ea typeface="Google Sans Medium"/>
                <a:cs typeface="Google Sans Medium"/>
                <a:sym typeface="Google Sans Medium"/>
              </a:rPr>
              <a:t>04-workflow-diagram.png</a:t>
            </a:r>
            <a:endParaRPr sz="2200">
              <a:solidFill>
                <a:srgbClr val="434343"/>
              </a:solidFill>
              <a:latin typeface="Google Sans Medium"/>
              <a:ea typeface="Google Sans Medium"/>
              <a:cs typeface="Google Sans Medium"/>
              <a:sym typeface="Google Sans Medium"/>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pic>
        <p:nvPicPr>
          <p:cNvPr id="276" name="Google Shape;276;p40"/>
          <p:cNvPicPr preferRelativeResize="0"/>
          <p:nvPr/>
        </p:nvPicPr>
        <p:blipFill rotWithShape="1">
          <a:blip r:embed="rId3">
            <a:alphaModFix/>
          </a:blip>
          <a:srcRect b="0" l="0" r="0" t="32478"/>
          <a:stretch/>
        </p:blipFill>
        <p:spPr>
          <a:xfrm>
            <a:off x="258575" y="1706850"/>
            <a:ext cx="9144000" cy="2328250"/>
          </a:xfrm>
          <a:prstGeom prst="rect">
            <a:avLst/>
          </a:prstGeom>
          <a:noFill/>
          <a:ln>
            <a:noFill/>
          </a:ln>
        </p:spPr>
      </p:pic>
      <p:sp>
        <p:nvSpPr>
          <p:cNvPr id="277" name="Google Shape;277;p40"/>
          <p:cNvSpPr txBox="1"/>
          <p:nvPr/>
        </p:nvSpPr>
        <p:spPr>
          <a:xfrm>
            <a:off x="321950" y="310100"/>
            <a:ext cx="8557200" cy="7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1000"/>
              </a:spcAft>
              <a:buNone/>
            </a:pPr>
            <a:r>
              <a:rPr b="1" lang="vi" sz="3800">
                <a:solidFill>
                  <a:schemeClr val="dk1"/>
                </a:solidFill>
                <a:latin typeface="Google Sans"/>
                <a:ea typeface="Google Sans"/>
                <a:cs typeface="Google Sans"/>
                <a:sym typeface="Google Sans"/>
              </a:rPr>
              <a:t>Hướng dẫn nộp bài và xem Result (</a:t>
            </a:r>
            <a:r>
              <a:rPr b="1" lang="vi" sz="3800">
                <a:solidFill>
                  <a:schemeClr val="dk1"/>
                </a:solidFill>
                <a:latin typeface="Google Sans"/>
                <a:ea typeface="Google Sans"/>
                <a:cs typeface="Google Sans"/>
                <a:sym typeface="Google Sans"/>
              </a:rPr>
              <a:t>1</a:t>
            </a:r>
            <a:r>
              <a:rPr b="1" lang="vi" sz="3800">
                <a:solidFill>
                  <a:schemeClr val="dk1"/>
                </a:solidFill>
                <a:latin typeface="Google Sans"/>
                <a:ea typeface="Google Sans"/>
                <a:cs typeface="Google Sans"/>
                <a:sym typeface="Google Sans"/>
              </a:rPr>
              <a:t>)</a:t>
            </a:r>
            <a:endParaRPr sz="2000"/>
          </a:p>
        </p:txBody>
      </p:sp>
      <p:sp>
        <p:nvSpPr>
          <p:cNvPr id="278" name="Google Shape;278;p40"/>
          <p:cNvSpPr txBox="1"/>
          <p:nvPr/>
        </p:nvSpPr>
        <p:spPr>
          <a:xfrm>
            <a:off x="412675" y="1173450"/>
            <a:ext cx="5325000" cy="5334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t/>
            </a:r>
            <a:endParaRPr b="1" sz="3200">
              <a:solidFill>
                <a:srgbClr val="000000"/>
              </a:solidFill>
              <a:latin typeface="Google Sans"/>
              <a:ea typeface="Google Sans"/>
              <a:cs typeface="Google Sans"/>
              <a:sym typeface="Google Sans"/>
            </a:endParaRPr>
          </a:p>
          <a:p>
            <a:pPr indent="0" lvl="0" marL="0" rtl="0" algn="l">
              <a:spcBef>
                <a:spcPts val="1000"/>
              </a:spcBef>
              <a:spcAft>
                <a:spcPts val="1000"/>
              </a:spcAft>
              <a:buNone/>
            </a:pPr>
            <a:r>
              <a:rPr lang="vi" sz="2000">
                <a:solidFill>
                  <a:srgbClr val="434343"/>
                </a:solidFill>
                <a:latin typeface="Google Sans Medium"/>
                <a:ea typeface="Google Sans Medium"/>
                <a:cs typeface="Google Sans Medium"/>
                <a:sym typeface="Google Sans Medium"/>
              </a:rPr>
              <a:t>Mở Terminal và nhập lệnh sau để nộp bài:</a:t>
            </a:r>
            <a:endParaRPr sz="2000">
              <a:solidFill>
                <a:srgbClr val="434343"/>
              </a:solidFill>
              <a:latin typeface="Google Sans Medium"/>
              <a:ea typeface="Google Sans Medium"/>
              <a:cs typeface="Google Sans Medium"/>
              <a:sym typeface="Google Sans Medium"/>
            </a:endParaRPr>
          </a:p>
        </p:txBody>
      </p:sp>
      <p:sp>
        <p:nvSpPr>
          <p:cNvPr id="279" name="Google Shape;279;p40"/>
          <p:cNvSpPr txBox="1"/>
          <p:nvPr/>
        </p:nvSpPr>
        <p:spPr>
          <a:xfrm>
            <a:off x="2630700" y="2718100"/>
            <a:ext cx="6350100" cy="1128000"/>
          </a:xfrm>
          <a:prstGeom prst="rect">
            <a:avLst/>
          </a:prstGeom>
          <a:no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b="1" lang="vi" sz="1650">
                <a:solidFill>
                  <a:srgbClr val="FF0000"/>
                </a:solidFill>
                <a:latin typeface="Courier New"/>
                <a:ea typeface="Courier New"/>
                <a:cs typeface="Courier New"/>
                <a:sym typeface="Courier New"/>
              </a:rPr>
              <a:t>git add .</a:t>
            </a:r>
            <a:endParaRPr b="1" sz="1650">
              <a:solidFill>
                <a:srgbClr val="FF0000"/>
              </a:solidFill>
              <a:latin typeface="Courier New"/>
              <a:ea typeface="Courier New"/>
              <a:cs typeface="Courier New"/>
              <a:sym typeface="Courier New"/>
            </a:endParaRPr>
          </a:p>
          <a:p>
            <a:pPr indent="0" lvl="0" marL="0" rtl="0" algn="l">
              <a:lnSpc>
                <a:spcPct val="135714"/>
              </a:lnSpc>
              <a:spcBef>
                <a:spcPts val="0"/>
              </a:spcBef>
              <a:spcAft>
                <a:spcPts val="0"/>
              </a:spcAft>
              <a:buNone/>
            </a:pPr>
            <a:r>
              <a:rPr b="1" lang="vi" sz="1650">
                <a:solidFill>
                  <a:srgbClr val="FF0000"/>
                </a:solidFill>
                <a:latin typeface="Courier New"/>
                <a:ea typeface="Courier New"/>
                <a:cs typeface="Courier New"/>
                <a:sym typeface="Courier New"/>
              </a:rPr>
              <a:t>git commit -m "feat: hoan thanh bai lab ngay 02"</a:t>
            </a:r>
            <a:endParaRPr b="1" sz="1650">
              <a:solidFill>
                <a:srgbClr val="FF0000"/>
              </a:solidFill>
              <a:latin typeface="Courier New"/>
              <a:ea typeface="Courier New"/>
              <a:cs typeface="Courier New"/>
              <a:sym typeface="Courier New"/>
            </a:endParaRPr>
          </a:p>
          <a:p>
            <a:pPr indent="0" lvl="0" marL="0" rtl="0" algn="l">
              <a:lnSpc>
                <a:spcPct val="135714"/>
              </a:lnSpc>
              <a:spcBef>
                <a:spcPts val="0"/>
              </a:spcBef>
              <a:spcAft>
                <a:spcPts val="0"/>
              </a:spcAft>
              <a:buNone/>
            </a:pPr>
            <a:r>
              <a:rPr b="1" lang="vi" sz="1650">
                <a:solidFill>
                  <a:srgbClr val="FF0000"/>
                </a:solidFill>
                <a:latin typeface="Courier New"/>
                <a:ea typeface="Courier New"/>
                <a:cs typeface="Courier New"/>
                <a:sym typeface="Courier New"/>
              </a:rPr>
              <a:t>git push origin main</a:t>
            </a:r>
            <a:endParaRPr b="1" sz="1650">
              <a:solidFill>
                <a:srgbClr val="FF0000"/>
              </a:solidFill>
              <a:latin typeface="Courier New"/>
              <a:ea typeface="Courier New"/>
              <a:cs typeface="Courier New"/>
              <a:sym typeface="Courier New"/>
            </a:endParaRPr>
          </a:p>
        </p:txBody>
      </p:sp>
      <p:sp>
        <p:nvSpPr>
          <p:cNvPr id="280" name="Google Shape;280;p40"/>
          <p:cNvSpPr txBox="1"/>
          <p:nvPr/>
        </p:nvSpPr>
        <p:spPr>
          <a:xfrm>
            <a:off x="408388" y="4358775"/>
            <a:ext cx="8443800" cy="5334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1000"/>
              </a:spcAft>
              <a:buNone/>
            </a:pPr>
            <a:r>
              <a:rPr lang="vi" sz="2000">
                <a:solidFill>
                  <a:srgbClr val="434343"/>
                </a:solidFill>
                <a:latin typeface="Google Sans Medium"/>
                <a:ea typeface="Google Sans Medium"/>
                <a:cs typeface="Google Sans Medium"/>
                <a:sym typeface="Google Sans Medium"/>
              </a:rPr>
              <a:t> </a:t>
            </a:r>
            <a:br>
              <a:rPr lang="vi" sz="2000">
                <a:solidFill>
                  <a:srgbClr val="434343"/>
                </a:solidFill>
                <a:latin typeface="Google Sans Medium"/>
                <a:ea typeface="Google Sans Medium"/>
                <a:cs typeface="Google Sans Medium"/>
                <a:sym typeface="Google Sans Medium"/>
              </a:rPr>
            </a:br>
            <a:r>
              <a:rPr lang="vi" sz="2000">
                <a:solidFill>
                  <a:srgbClr val="FF0000"/>
                </a:solidFill>
                <a:latin typeface="Google Sans Medium"/>
                <a:ea typeface="Google Sans Medium"/>
                <a:cs typeface="Google Sans Medium"/>
                <a:sym typeface="Google Sans Medium"/>
              </a:rPr>
              <a:t>Lưu ý! Nếu quá trình này gặp lỗi, hãy liên hệ ngay trên Discord</a:t>
            </a:r>
            <a:endParaRPr sz="2000">
              <a:solidFill>
                <a:srgbClr val="FF0000"/>
              </a:solidFill>
              <a:latin typeface="Google Sans Medium"/>
              <a:ea typeface="Google Sans Medium"/>
              <a:cs typeface="Google Sans Medium"/>
              <a:sym typeface="Google Sans Medium"/>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pic>
        <p:nvPicPr>
          <p:cNvPr id="285" name="Google Shape;285;p41"/>
          <p:cNvPicPr preferRelativeResize="0"/>
          <p:nvPr/>
        </p:nvPicPr>
        <p:blipFill>
          <a:blip r:embed="rId3">
            <a:alphaModFix/>
          </a:blip>
          <a:stretch>
            <a:fillRect/>
          </a:stretch>
        </p:blipFill>
        <p:spPr>
          <a:xfrm>
            <a:off x="255050" y="1016425"/>
            <a:ext cx="7857308" cy="3759101"/>
          </a:xfrm>
          <a:prstGeom prst="rect">
            <a:avLst/>
          </a:prstGeom>
          <a:noFill/>
          <a:ln>
            <a:noFill/>
          </a:ln>
        </p:spPr>
      </p:pic>
      <p:pic>
        <p:nvPicPr>
          <p:cNvPr id="286" name="Google Shape;286;p41"/>
          <p:cNvPicPr preferRelativeResize="0"/>
          <p:nvPr/>
        </p:nvPicPr>
        <p:blipFill>
          <a:blip r:embed="rId4">
            <a:alphaModFix/>
          </a:blip>
          <a:stretch>
            <a:fillRect/>
          </a:stretch>
        </p:blipFill>
        <p:spPr>
          <a:xfrm rot="-9714646">
            <a:off x="2117853" y="1278452"/>
            <a:ext cx="718652" cy="619519"/>
          </a:xfrm>
          <a:prstGeom prst="rect">
            <a:avLst/>
          </a:prstGeom>
          <a:noFill/>
          <a:ln>
            <a:noFill/>
          </a:ln>
        </p:spPr>
      </p:pic>
      <p:pic>
        <p:nvPicPr>
          <p:cNvPr id="287" name="Google Shape;287;p41"/>
          <p:cNvPicPr preferRelativeResize="0"/>
          <p:nvPr/>
        </p:nvPicPr>
        <p:blipFill>
          <a:blip r:embed="rId4">
            <a:alphaModFix/>
          </a:blip>
          <a:stretch>
            <a:fillRect/>
          </a:stretch>
        </p:blipFill>
        <p:spPr>
          <a:xfrm flipH="1" rot="-2503465">
            <a:off x="2871871" y="1914233"/>
            <a:ext cx="710781" cy="665719"/>
          </a:xfrm>
          <a:prstGeom prst="rect">
            <a:avLst/>
          </a:prstGeom>
          <a:noFill/>
          <a:ln>
            <a:noFill/>
          </a:ln>
        </p:spPr>
      </p:pic>
      <p:sp>
        <p:nvSpPr>
          <p:cNvPr id="288" name="Google Shape;288;p41"/>
          <p:cNvSpPr txBox="1"/>
          <p:nvPr/>
        </p:nvSpPr>
        <p:spPr>
          <a:xfrm>
            <a:off x="3409750" y="1811875"/>
            <a:ext cx="6737400" cy="5334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t/>
            </a:r>
            <a:endParaRPr b="1" sz="3200">
              <a:solidFill>
                <a:srgbClr val="000000"/>
              </a:solidFill>
              <a:latin typeface="Google Sans"/>
              <a:ea typeface="Google Sans"/>
              <a:cs typeface="Google Sans"/>
              <a:sym typeface="Google Sans"/>
            </a:endParaRPr>
          </a:p>
          <a:p>
            <a:pPr indent="0" lvl="0" marL="0" rtl="0" algn="l">
              <a:spcBef>
                <a:spcPts val="1000"/>
              </a:spcBef>
              <a:spcAft>
                <a:spcPts val="1000"/>
              </a:spcAft>
              <a:buNone/>
            </a:pPr>
            <a:r>
              <a:rPr lang="vi" sz="2000">
                <a:solidFill>
                  <a:srgbClr val="434343"/>
                </a:solidFill>
                <a:latin typeface="Google Sans Medium"/>
                <a:ea typeface="Google Sans Medium"/>
                <a:cs typeface="Google Sans Medium"/>
                <a:sym typeface="Google Sans Medium"/>
              </a:rPr>
              <a:t>Chọn run mới nhất </a:t>
            </a:r>
            <a:r>
              <a:rPr lang="vi" sz="2000">
                <a:solidFill>
                  <a:srgbClr val="434343"/>
                </a:solidFill>
                <a:latin typeface="Google Sans Medium"/>
                <a:ea typeface="Google Sans Medium"/>
                <a:cs typeface="Google Sans Medium"/>
                <a:sym typeface="Google Sans Medium"/>
              </a:rPr>
              <a:t>để xem điểm</a:t>
            </a:r>
            <a:endParaRPr sz="2000">
              <a:solidFill>
                <a:srgbClr val="434343"/>
              </a:solidFill>
              <a:latin typeface="Google Sans Medium"/>
              <a:ea typeface="Google Sans Medium"/>
              <a:cs typeface="Google Sans Medium"/>
              <a:sym typeface="Google Sans Medium"/>
            </a:endParaRPr>
          </a:p>
        </p:txBody>
      </p:sp>
      <p:sp>
        <p:nvSpPr>
          <p:cNvPr id="289" name="Google Shape;289;p41"/>
          <p:cNvSpPr txBox="1"/>
          <p:nvPr/>
        </p:nvSpPr>
        <p:spPr>
          <a:xfrm>
            <a:off x="321950" y="310100"/>
            <a:ext cx="8557200" cy="7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1000"/>
              </a:spcAft>
              <a:buNone/>
            </a:pPr>
            <a:r>
              <a:rPr b="1" lang="vi" sz="3800">
                <a:solidFill>
                  <a:schemeClr val="dk1"/>
                </a:solidFill>
                <a:latin typeface="Google Sans"/>
                <a:ea typeface="Google Sans"/>
                <a:cs typeface="Google Sans"/>
                <a:sym typeface="Google Sans"/>
              </a:rPr>
              <a:t>Hướng dẫn nộp bài và xem Result (</a:t>
            </a:r>
            <a:r>
              <a:rPr b="1" lang="vi" sz="3800">
                <a:solidFill>
                  <a:schemeClr val="dk1"/>
                </a:solidFill>
                <a:latin typeface="Google Sans"/>
                <a:ea typeface="Google Sans"/>
                <a:cs typeface="Google Sans"/>
                <a:sym typeface="Google Sans"/>
              </a:rPr>
              <a:t>2</a:t>
            </a:r>
            <a:r>
              <a:rPr b="1" lang="vi" sz="3800">
                <a:solidFill>
                  <a:schemeClr val="dk1"/>
                </a:solidFill>
                <a:latin typeface="Google Sans"/>
                <a:ea typeface="Google Sans"/>
                <a:cs typeface="Google Sans"/>
                <a:sym typeface="Google Sans"/>
              </a:rPr>
              <a:t>)</a:t>
            </a:r>
            <a:endParaRPr sz="2000"/>
          </a:p>
        </p:txBody>
      </p:sp>
      <p:sp>
        <p:nvSpPr>
          <p:cNvPr id="290" name="Google Shape;290;p41"/>
          <p:cNvSpPr txBox="1"/>
          <p:nvPr/>
        </p:nvSpPr>
        <p:spPr>
          <a:xfrm>
            <a:off x="2681800" y="1278475"/>
            <a:ext cx="6737400" cy="5334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t/>
            </a:r>
            <a:endParaRPr b="1" sz="3200">
              <a:solidFill>
                <a:srgbClr val="000000"/>
              </a:solidFill>
              <a:latin typeface="Google Sans"/>
              <a:ea typeface="Google Sans"/>
              <a:cs typeface="Google Sans"/>
              <a:sym typeface="Google Sans"/>
            </a:endParaRPr>
          </a:p>
          <a:p>
            <a:pPr indent="0" lvl="0" marL="0" rtl="0" algn="l">
              <a:spcBef>
                <a:spcPts val="1000"/>
              </a:spcBef>
              <a:spcAft>
                <a:spcPts val="1000"/>
              </a:spcAft>
              <a:buNone/>
            </a:pPr>
            <a:r>
              <a:rPr lang="vi" sz="2000">
                <a:solidFill>
                  <a:srgbClr val="434343"/>
                </a:solidFill>
                <a:latin typeface="Google Sans Medium"/>
                <a:ea typeface="Google Sans Medium"/>
                <a:cs typeface="Google Sans Medium"/>
                <a:sym typeface="Google Sans Medium"/>
              </a:rPr>
              <a:t>Trong màn hình github, vào Actions để xem điểm</a:t>
            </a:r>
            <a:endParaRPr sz="2000">
              <a:solidFill>
                <a:srgbClr val="434343"/>
              </a:solidFill>
              <a:latin typeface="Google Sans Medium"/>
              <a:ea typeface="Google Sans Medium"/>
              <a:cs typeface="Google Sans Medium"/>
              <a:sym typeface="Google Sans Medium"/>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